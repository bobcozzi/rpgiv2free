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>
          </p:cNvSpPr>
          <p:nvPr/>
        </p:nvSpPr>
        <p:spPr bwMode="auto">
          <a:xfrm>
            <a:off x="0" y="4323810"/>
            <a:ext cx="1744652" cy="778589"/>
          </a:xfrm>
          <a:custGeom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>
          </p:cNvSpPr>
          <p:nvPr/>
        </p:nvSpPr>
        <p:spPr bwMode="auto">
          <a:xfrm flipV="1">
            <a:off x="-4189" y="31781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>
          </p:cNvSpPr>
          <p:nvPr/>
        </p:nvSpPr>
        <p:spPr bwMode="auto">
          <a:xfrm flipV="1">
            <a:off x="-4189" y="491172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>
          </p:cNvSpPr>
          <p:nvPr/>
        </p:nvSpPr>
        <p:spPr bwMode="auto">
          <a:xfrm flipV="1">
            <a:off x="-4189" y="31781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>
          </p:cNvSpPr>
          <p:nvPr/>
        </p:nvSpPr>
        <p:spPr bwMode="auto">
          <a:xfrm flipV="1">
            <a:off x="-4189" y="31781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>
          </p:cNvSpPr>
          <p:nvPr/>
        </p:nvSpPr>
        <p:spPr bwMode="auto">
          <a:xfrm flipV="1">
            <a:off x="-4189" y="491172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>
          </p:cNvSpPr>
          <p:nvPr/>
        </p:nvSpPr>
        <p:spPr bwMode="auto">
          <a:xfrm flipV="1">
            <a:off x="-4189" y="491172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>
          </p:cNvSpPr>
          <p:nvPr/>
        </p:nvSpPr>
        <p:spPr bwMode="auto">
          <a:xfrm flipV="1">
            <a:off x="-4189" y="491172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>
            </p:cNvSpPr>
            <p:nvPr/>
          </p:nvSpPr>
          <p:spPr bwMode="auto">
            <a:xfrm>
              <a:off x="2487613" y="2284413"/>
              <a:ext cx="85725" cy="533400"/>
            </a:xfrm>
            <a:custGeom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>
            </p:cNvSpPr>
            <p:nvPr/>
          </p:nvSpPr>
          <p:spPr bwMode="auto">
            <a:xfrm>
              <a:off x="2597151" y="2779713"/>
              <a:ext cx="550863" cy="1978025"/>
            </a:xfrm>
            <a:custGeom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>
            </p:cNvSpPr>
            <p:nvPr/>
          </p:nvSpPr>
          <p:spPr bwMode="auto">
            <a:xfrm>
              <a:off x="3175001" y="4730750"/>
              <a:ext cx="519113" cy="1209675"/>
            </a:xfrm>
            <a:custGeom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>
            </p:cNvSpPr>
            <p:nvPr/>
          </p:nvSpPr>
          <p:spPr bwMode="auto">
            <a:xfrm>
              <a:off x="3305176" y="5630863"/>
              <a:ext cx="146050" cy="309563"/>
            </a:xfrm>
            <a:custGeom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>
            </p:cNvSpPr>
            <p:nvPr/>
          </p:nvSpPr>
          <p:spPr bwMode="auto">
            <a:xfrm>
              <a:off x="2573338" y="2817813"/>
              <a:ext cx="700088" cy="2835275"/>
            </a:xfrm>
            <a:custGeom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>
            </p:cNvSpPr>
            <p:nvPr/>
          </p:nvSpPr>
          <p:spPr bwMode="auto">
            <a:xfrm>
              <a:off x="2506663" y="285750"/>
              <a:ext cx="90488" cy="2493963"/>
            </a:xfrm>
            <a:custGeom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>
            </p:cNvSpPr>
            <p:nvPr/>
          </p:nvSpPr>
          <p:spPr bwMode="auto">
            <a:xfrm>
              <a:off x="2554288" y="2598738"/>
              <a:ext cx="66675" cy="420688"/>
            </a:xfrm>
            <a:custGeom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>
            </p:cNvSpPr>
            <p:nvPr/>
          </p:nvSpPr>
          <p:spPr bwMode="auto">
            <a:xfrm>
              <a:off x="3143251" y="4757738"/>
              <a:ext cx="161925" cy="873125"/>
            </a:xfrm>
            <a:custGeom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>
            </p:cNvSpPr>
            <p:nvPr/>
          </p:nvSpPr>
          <p:spPr bwMode="auto">
            <a:xfrm>
              <a:off x="3148013" y="1282700"/>
              <a:ext cx="1768475" cy="3448050"/>
            </a:xfrm>
            <a:custGeom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>
            </p:cNvSpPr>
            <p:nvPr/>
          </p:nvSpPr>
          <p:spPr bwMode="auto">
            <a:xfrm>
              <a:off x="3273426" y="5653088"/>
              <a:ext cx="138113" cy="287338"/>
            </a:xfrm>
            <a:custGeom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>
            </p:cNvSpPr>
            <p:nvPr/>
          </p:nvSpPr>
          <p:spPr bwMode="auto">
            <a:xfrm>
              <a:off x="3143251" y="4656138"/>
              <a:ext cx="31750" cy="188913"/>
            </a:xfrm>
            <a:custGeom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>
            </p:cNvSpPr>
            <p:nvPr/>
          </p:nvSpPr>
          <p:spPr bwMode="auto">
            <a:xfrm>
              <a:off x="3211513" y="5410200"/>
              <a:ext cx="203200" cy="530225"/>
            </a:xfrm>
            <a:custGeom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>
            </p:cNvSpPr>
            <p:nvPr/>
          </p:nvSpPr>
          <p:spPr bwMode="auto">
            <a:xfrm>
              <a:off x="6627813" y="194833"/>
              <a:ext cx="409575" cy="3646488"/>
            </a:xfrm>
            <a:custGeom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>
            </p:cNvSpPr>
            <p:nvPr/>
          </p:nvSpPr>
          <p:spPr bwMode="auto">
            <a:xfrm>
              <a:off x="7061201" y="3771900"/>
              <a:ext cx="350838" cy="1309688"/>
            </a:xfrm>
            <a:custGeom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>
            </p:cNvSpPr>
            <p:nvPr/>
          </p:nvSpPr>
          <p:spPr bwMode="auto">
            <a:xfrm>
              <a:off x="7439026" y="5053013"/>
              <a:ext cx="357188" cy="820738"/>
            </a:xfrm>
            <a:custGeom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>
            </p:cNvSpPr>
            <p:nvPr/>
          </p:nvSpPr>
          <p:spPr bwMode="auto">
            <a:xfrm>
              <a:off x="7037388" y="3811588"/>
              <a:ext cx="457200" cy="1852613"/>
            </a:xfrm>
            <a:custGeom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>
            </p:cNvSpPr>
            <p:nvPr/>
          </p:nvSpPr>
          <p:spPr bwMode="auto">
            <a:xfrm>
              <a:off x="6992938" y="1263650"/>
              <a:ext cx="144463" cy="2508250"/>
            </a:xfrm>
            <a:custGeom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>
            </p:cNvSpPr>
            <p:nvPr/>
          </p:nvSpPr>
          <p:spPr bwMode="auto">
            <a:xfrm>
              <a:off x="7526338" y="5640388"/>
              <a:ext cx="111125" cy="233363"/>
            </a:xfrm>
            <a:custGeom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>
            </p:cNvSpPr>
            <p:nvPr/>
          </p:nvSpPr>
          <p:spPr bwMode="auto">
            <a:xfrm>
              <a:off x="7021513" y="3598863"/>
              <a:ext cx="68263" cy="423863"/>
            </a:xfrm>
            <a:custGeom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>
            </p:cNvSpPr>
            <p:nvPr/>
          </p:nvSpPr>
          <p:spPr bwMode="auto">
            <a:xfrm>
              <a:off x="7412038" y="2801938"/>
              <a:ext cx="1168400" cy="2251075"/>
            </a:xfrm>
            <a:custGeom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>
            </p:cNvSpPr>
            <p:nvPr/>
          </p:nvSpPr>
          <p:spPr bwMode="auto">
            <a:xfrm>
              <a:off x="7494588" y="5664200"/>
              <a:ext cx="100013" cy="209550"/>
            </a:xfrm>
            <a:custGeom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>
            </p:cNvSpPr>
            <p:nvPr/>
          </p:nvSpPr>
          <p:spPr bwMode="auto">
            <a:xfrm>
              <a:off x="7412038" y="5081588"/>
              <a:ext cx="114300" cy="558800"/>
            </a:xfrm>
            <a:custGeom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>
            </p:cNvSpPr>
            <p:nvPr/>
          </p:nvSpPr>
          <p:spPr bwMode="auto">
            <a:xfrm>
              <a:off x="7412038" y="4978400"/>
              <a:ext cx="31750" cy="188913"/>
            </a:xfrm>
            <a:custGeom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>
            </p:cNvSpPr>
            <p:nvPr/>
          </p:nvSpPr>
          <p:spPr bwMode="auto">
            <a:xfrm>
              <a:off x="7439026" y="5434013"/>
              <a:ext cx="174625" cy="439738"/>
            </a:xfrm>
            <a:custGeom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CLPrompter: Prompt CL Commands Like IBM i F4 — in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Brings the classic IBM i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F4=Prompt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experience to VS Code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Works on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.clle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.cmd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and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.bnd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source members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Integrates with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Code for IBM i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for live IBM i command definitions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By Bob Cozzi / CozziResearch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Currently in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PREVIEW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keep your Undo key (Cmd+Z / Ctrl+Z) handy!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What is IBM i F4 Prompting?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IBM i's 5250 green-screen has always had an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F4 key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for command prompting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Pressing F4 on a CL command opens a full-screen parameter fill-in form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Each parameter is labeled, described, and validated with allowed values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Developers have relied on it for 40 years to build CL programs correctly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CLPrompter recreates this experience natively inside VS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To prompt a CL command: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1. Open a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.clle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.cmd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or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.bnd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file in VS Code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2. Place your cursor on the line containing the command to prompt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3. Press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F4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or right-click and choose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"CL Prompter"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from the context menu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4. The prompter panel opens, pre-filled with any existing parameter values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5. Fill in or adjust the parameters, then press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Enter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to apply or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F3/Esc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to cancel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The Prompter Panel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Opens as a VS Code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webview panel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alongside your editor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Displays the CL command name at the top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Each parameter is shown with: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Its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keyword name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(e.g.,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LIB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OUTQ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JOBQ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A text input, dropdown, or textarea as appropriate for the parameter type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The allowed values or a description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Values already present in your source are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pre-populated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automatically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On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Enter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: the formatted CL statement is written back to your source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Visual Focus Indicator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A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▶ arrow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indicator appears at the right edge of the label for the focused field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Makes it instantly clear which parameter you are editing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Especially helpful for commands with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20+ parameters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Indicator moves as you tab through fields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Matches the directional cue style that IBM i 5250 users are familiar with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Keyboard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TAB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key: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Moves focus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forward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through all input fields, just like classic 5250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No mouse required — full keyboard-only workflow supported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TAB does not accidentally enter literal tab characters into values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F4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(within a CMD/CMDSTR textarea):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Opens a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nested prompter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for the embedded command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Nested panel opens side-by-side, titled with "(nested)"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Submitting the nested prompter returns its result to the parent field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F3 / Esc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Cancels the prompter and returns to the editor with no changes made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Nested Prompting (F4 within CMD)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Some CL commands accept another command as a parameter (e.g.,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SBMJOB CMD()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1. In the SBMJOB prompter, type a command name in the CMD textarea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(e.g.,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CALL PGM(MYPGM)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2. Press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F4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while the cursor is in that textarea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3. A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second prompter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opens in a side-by-side panel for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CALL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4. Fill in the CALL parameters and press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Enter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5. The formatted command string is returned to SBMJOB's CMD field automatically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400" b="0" i="1">
                <a:solidFill>
                  <a:srgbClr val="666666"/>
                </a:solidFill>
                <a:latin typeface="Calibri"/>
              </a:rPr>
              <a:t>Supports arbitrarily complex nested command chains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Comment Preservation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Trailing comments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on your CL command line are automatically detected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Example: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DLTF FILE(MYLIB/WRKFILE)  /* Cleanup temp file */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Comments are preserved and correctly re-attached after prompting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Multi-line comments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are wrapped and indented to match IBM i style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Single-line or end-of-line comments never get lost during prompting or formatting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Intelligent Formatting: ELEM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CL commands like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CHGJOB LOG(4 0 *SECLVL)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have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ELEM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(element) parameters: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Multiple values that belong together in one logical group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CLPrompter keeps ELEM groups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on a single line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when possible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Prevents awkward mid-group line breaks that break readability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Handles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SBMJOB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EXTRA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LOG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and other compound ELEM types correctly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Nested parentheses in ELEM groups are correctly preserved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CL Source Formatter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1773936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CLPrompter includes a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standalone CL formatter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(separate from the prompter):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374136"/>
          <a:ext cx="1124712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Format CL (current line)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Re-formats the CL command on the cursor line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Format CL (file)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Re-formats all CL commands in the current file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2E"/>
                </a:solidFill>
                <a:latin typeface="Calibri"/>
              </a:rPr>
              <a:t>Formatting applies: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93208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2E"/>
                </a:solidFill>
                <a:latin typeface="Calibri"/>
              </a:rPr>
              <a:t>Configurable label, command, keyword, and continuation column positions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77256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2E"/>
                </a:solidFill>
                <a:latin typeface="Calibri"/>
              </a:rPr>
              <a:t>Correct right-margin wrapping with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+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 or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-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 continuation characters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61304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2E"/>
                </a:solidFill>
                <a:latin typeface="Calibri"/>
              </a:rPr>
              <a:t>IBM i-style comment placement (same line when space permits)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45352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2E"/>
                </a:solidFill>
                <a:latin typeface="Calibri"/>
              </a:rPr>
              <a:t>Blank line preservation between commands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Formatting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2084832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Fine-tune exactly where each part of a CL statement appears: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685032"/>
          <a:ext cx="1124712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formatLabelPosition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Column where command label starts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formatCmdPosition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Column where command name starts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formatKwdPosition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Column where first keyword starts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formatContinuePosition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Column for continuation lines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formatRightMargin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Maximum line length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formatIndentComments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*YES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Indent comments with code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Case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CLPrompter can normalize case when returning from the prompter or formatting: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`convertCmdAndParmNameCase`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 b="0" i="0">
                <a:solidFill>
                  <a:srgbClr val="B5204F"/>
                </a:solidFill>
                <a:latin typeface="Courier New"/>
              </a:rPr>
              <a:t>*UPPER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CHGVAR VAR(&amp;X) VALUE(1)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← uppercase command and keywords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 b="0" i="0">
                <a:solidFill>
                  <a:srgbClr val="B5204F"/>
                </a:solidFill>
                <a:latin typeface="Courier New"/>
              </a:rPr>
              <a:t>*LOWER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chgvar var(&amp;x) value(1)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← all lowercase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 b="0" i="0">
                <a:solidFill>
                  <a:srgbClr val="B5204F"/>
                </a:solidFill>
                <a:latin typeface="Courier New"/>
              </a:rPr>
              <a:t>*NONE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leave case exactly as typed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`convertParmValueToUpperCase`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When enabled: CL variables, operators, and built-in functions go uppercase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Example: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'&amp;pickles *bcat %trim(x)'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→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'&amp;PICKLES *BCAT %TRIM(x)'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Applies to values returned from the prompter and during file formatting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Theme-Aware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The prompter's parameter display adapts to your VS Code color theme: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Keyword color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configurable via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clPrompter.kwdColor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(any CSS color)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Value color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configurable via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clPrompter.kwdValueColor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`kwdColorAutoAdjust`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automatically adjusts keyword color for best contrast in light, dark, or high-contrast themes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Works with any VS Code theme — no manual reconfiguration needed when you switch themes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Public API for Extension Authors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1655064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CLPrompter exposes a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programmatic API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so other extensions can invoke it: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55264"/>
            <a:ext cx="11247120" cy="1709928"/>
          </a:xfrm>
          <a:prstGeom prst="rect">
            <a:avLst/>
          </a:prstGeom>
          <a:solidFill>
            <a:srgbClr val="1E1E1E"/>
          </a:solidFill>
        </p:spPr>
        <p:txBody>
          <a:bodyPr wrap="none" lIns="146304" rIns="109728" tIns="128016" bIns="109728">
            <a:spAutoFit/>
          </a:bodyPr>
          <a:lstStyle/>
          <a:p>
            <a:r>
              <a:rPr sz="1000" b="0">
                <a:solidFill>
                  <a:srgbClr val="D4D4D4"/>
                </a:solidFill>
                <a:latin typeface="Letter Gothic MT"/>
              </a:rPr>
              <a:t>const clPrompterExt = vscode.extensions.getExtension('CozziResearch.clprompter');</a:t>
            </a:r>
          </a:p>
          <a:p>
            <a:r>
              <a:rPr sz="1000" b="0">
                <a:solidFill>
                  <a:srgbClr val="D4D4D4"/>
                </a:solidFill>
                <a:latin typeface="Letter Gothic MT"/>
              </a:rPr>
              <a:t>if (clPrompterExt) {</a:t>
            </a:r>
          </a:p>
          <a:p>
            <a:r>
              <a:rPr sz="1000" b="0">
                <a:solidFill>
                  <a:srgbClr val="D4D4D4"/>
                </a:solidFill>
                <a:latin typeface="Letter Gothic MT"/>
              </a:rPr>
              <a:t>    if (!clPrompterExt.isActive) await clPrompterExt.activate();</a:t>
            </a:r>
          </a:p>
          <a:p>
            <a:r>
              <a:rPr sz="1000" b="0">
                <a:solidFill>
                  <a:srgbClr val="D4D4D4"/>
                </a:solidFill>
                <a:latin typeface="Letter Gothic MT"/>
              </a:rPr>
              <a:t>    const { CLPrompter } = clPrompterExt.exports;</a:t>
            </a:r>
          </a:p>
          <a:p>
            <a:r>
              <a:rPr sz="1000" b="0">
                <a:solidFill>
                  <a:srgbClr val="D4D4D4"/>
                </a:solidFill>
                <a:latin typeface="Letter Gothic MT"/>
              </a:rPr>
              <a:t>    const result = await CLPrompter(commandString, extensionUri);</a:t>
            </a:r>
          </a:p>
          <a:p>
            <a:r>
              <a:rPr sz="1000" b="0">
                <a:solidFill>
                  <a:srgbClr val="D4D4D4"/>
                </a:solidFill>
                <a:latin typeface="Letter Gothic MT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93208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F497D"/>
                </a:solidFill>
                <a:latin typeface="Calibri"/>
              </a:rPr>
              <a:t>No npm package required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 — access is through the VS Code extension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77256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2E"/>
                </a:solidFill>
                <a:latin typeface="Calibri"/>
              </a:rPr>
              <a:t>Two integration modes: </a:t>
            </a:r>
            <a:r>
              <a:rPr sz="1400" b="1" i="0">
                <a:solidFill>
                  <a:srgbClr val="1F497D"/>
                </a:solidFill>
                <a:latin typeface="Calibri"/>
              </a:rPr>
              <a:t>optional enhancement</a:t>
            </a:r>
            <a:r>
              <a:rPr sz="1400" b="0" i="0">
                <a:solidFill>
                  <a:srgbClr val="1A1A2E"/>
                </a:solidFill>
                <a:latin typeface="Calibri"/>
              </a:rPr>
              <a:t> or </a:t>
            </a:r>
            <a:r>
              <a:rPr sz="1400" b="1" i="0">
                <a:solidFill>
                  <a:srgbClr val="1F497D"/>
                </a:solidFill>
                <a:latin typeface="Calibri"/>
              </a:rPr>
              <a:t>required dependency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61304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2E"/>
                </a:solidFill>
                <a:latin typeface="Calibri"/>
              </a:rPr>
              <a:t>Returns the updated command string after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45352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2E"/>
                </a:solidFill>
                <a:latin typeface="Calibri"/>
              </a:rPr>
              <a:t>Documented in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CLPROMPTER_API.md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Diagnostic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For troubleshooting or reporting issues to support: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Save Command XML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clPrompter.saveCmdXMLtoFile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):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Writes the IBM i command definition XML to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cmdDefn.xml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Useful to see exactly what parameter structure was returned from IBM i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Configurable output directory (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${tmpdir}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${userHome}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or absolute path)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Save Prompter HTML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clPrompter.savePrompterHTMLtoFile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):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Saves the generated prompter HTML to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clPrompt-&lt;cmdName&gt;.html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Can be sent to support to diagnose display issues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Not recommended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for normal daily use — enable only when troubleshooting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Requirements &amp;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Dependencies: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VS Code 1.80+ (any platform: macOS, Windows, Linux)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Code for IBM i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(by Halcyon) — provides the IBM i connection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An active connection to an IBM i system (for command definitions)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Works with: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Any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.clle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.bnd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or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.cmd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source file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IBM CLLE extension (syntax highlighting, outline, definition navigation)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Any IBM i source opened via Code for IBM i member editing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CLPrompter gives IBM i CL developers the full F4 prompt experience in VS Code: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F4 key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prompt any CL command instantly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Pre-populated fields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existing parameter values loaded automatically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Nested prompting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F4 inside CMD/CMDSTR opens a second prompter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Comment preservation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trailing comments survive editing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CL Formatter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format current line or entire file on demand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Case conversion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uppercase, lowercase, or as-is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Configurable columns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match your shop's CL formatting standards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Theme-aware colors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looks right in any VS Code theme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Public API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other extensions can invoke CLPrompter programmatically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CLPROMPTER_PRESENTATION</dc:title>
  <dc:creator>CozziResearch</dc:creator>
  <dcterms:created xsi:type="dcterms:W3CDTF">2026-04-08T15:27:09Z</dcterms:created>
  <dcterms:modified xsi:type="dcterms:W3CDTF">2026-04-08T15:27:09Z</dcterms:modified>
</cp:coreProperties>
</file>