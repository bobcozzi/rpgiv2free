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80" r:id="rId2"/>
    <p:sldId id="256" r:id="rId3"/>
    <p:sldId id="257" r:id="rId4"/>
    <p:sldId id="258" r:id="rId5"/>
    <p:sldId id="259" r:id="rId6"/>
    <p:sldId id="260" r:id="rId7"/>
    <p:sldId id="261" r:id="rId8"/>
    <p:sldId id="28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F6103A-EA57-46B1-9D2D-8BFDC16B31F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41AF3A4-61B2-48EE-8BC6-CAA152C58BC8}">
      <dgm:prSet/>
      <dgm:spPr/>
      <dgm:t>
        <a:bodyPr/>
        <a:lstStyle/>
        <a:p>
          <a:r>
            <a:rPr lang="en-US" b="0" i="0"/>
            <a:t>Select one line, multiple lines, or the entire file</a:t>
          </a:r>
          <a:endParaRPr lang="en-US"/>
        </a:p>
      </dgm:t>
    </dgm:pt>
    <dgm:pt modelId="{D0AF9214-1BC0-45AD-8FD1-E8A96C1F90BA}" type="parTrans" cxnId="{D8CC18F2-7932-4F10-BD9B-5F4454DAE6BD}">
      <dgm:prSet/>
      <dgm:spPr/>
      <dgm:t>
        <a:bodyPr/>
        <a:lstStyle/>
        <a:p>
          <a:endParaRPr lang="en-US"/>
        </a:p>
      </dgm:t>
    </dgm:pt>
    <dgm:pt modelId="{094A9745-703E-4B0D-B344-DDF8D591C84D}" type="sibTrans" cxnId="{D8CC18F2-7932-4F10-BD9B-5F4454DAE6BD}">
      <dgm:prSet/>
      <dgm:spPr/>
      <dgm:t>
        <a:bodyPr/>
        <a:lstStyle/>
        <a:p>
          <a:endParaRPr lang="en-US"/>
        </a:p>
      </dgm:t>
    </dgm:pt>
    <dgm:pt modelId="{2CB5234D-A9D6-4F60-B99A-A1F942FD97B9}">
      <dgm:prSet/>
      <dgm:spPr/>
      <dgm:t>
        <a:bodyPr/>
        <a:lstStyle/>
        <a:p>
          <a:r>
            <a:rPr lang="en-US" b="0" i="0"/>
            <a:t>Right-click → </a:t>
          </a:r>
          <a:r>
            <a:rPr lang="en-US" b="1" i="0"/>
            <a:t>"Convert RPG IV to Free Format"</a:t>
          </a:r>
          <a:endParaRPr lang="en-US"/>
        </a:p>
      </dgm:t>
    </dgm:pt>
    <dgm:pt modelId="{56600745-F17F-4C77-8831-A4039ECEAEDA}" type="parTrans" cxnId="{8982FA70-88EE-4273-AE7C-3754168340E9}">
      <dgm:prSet/>
      <dgm:spPr/>
      <dgm:t>
        <a:bodyPr/>
        <a:lstStyle/>
        <a:p>
          <a:endParaRPr lang="en-US"/>
        </a:p>
      </dgm:t>
    </dgm:pt>
    <dgm:pt modelId="{4A3B058E-225E-4D46-9B29-F34A7087FF8B}" type="sibTrans" cxnId="{8982FA70-88EE-4273-AE7C-3754168340E9}">
      <dgm:prSet/>
      <dgm:spPr/>
      <dgm:t>
        <a:bodyPr/>
        <a:lstStyle/>
        <a:p>
          <a:endParaRPr lang="en-US"/>
        </a:p>
      </dgm:t>
    </dgm:pt>
    <dgm:pt modelId="{1D8C75FD-28A5-4A51-9F8E-4DF749C8110F}">
      <dgm:prSet/>
      <dgm:spPr/>
      <dgm:t>
        <a:bodyPr/>
        <a:lstStyle/>
        <a:p>
          <a:r>
            <a:rPr lang="en-US" b="0" i="0"/>
            <a:t>The selected fixed-format statements are replaced in-place with free-format equivalents</a:t>
          </a:r>
          <a:endParaRPr lang="en-US"/>
        </a:p>
      </dgm:t>
    </dgm:pt>
    <dgm:pt modelId="{6D2B471C-F306-4C44-A91F-738187025367}" type="parTrans" cxnId="{CE76C52D-4EB8-46E6-B083-446F812C05F1}">
      <dgm:prSet/>
      <dgm:spPr/>
      <dgm:t>
        <a:bodyPr/>
        <a:lstStyle/>
        <a:p>
          <a:endParaRPr lang="en-US"/>
        </a:p>
      </dgm:t>
    </dgm:pt>
    <dgm:pt modelId="{EC5E39C8-6AAE-4D65-962E-7DD27F4EEE70}" type="sibTrans" cxnId="{CE76C52D-4EB8-46E6-B083-446F812C05F1}">
      <dgm:prSet/>
      <dgm:spPr/>
      <dgm:t>
        <a:bodyPr/>
        <a:lstStyle/>
        <a:p>
          <a:endParaRPr lang="en-US"/>
        </a:p>
      </dgm:t>
    </dgm:pt>
    <dgm:pt modelId="{CD3CBF2C-1986-42BB-A1F6-AD01B9663E21}">
      <dgm:prSet/>
      <dgm:spPr/>
      <dgm:t>
        <a:bodyPr/>
        <a:lstStyle/>
        <a:p>
          <a:r>
            <a:rPr lang="en-US" b="0" i="0"/>
            <a:t>Operates at the </a:t>
          </a:r>
          <a:r>
            <a:rPr lang="en-US" b="0" i="1"/>
            <a:t>statement</a:t>
          </a:r>
          <a:r>
            <a:rPr lang="en-US" b="0" i="0"/>
            <a:t> level — multi-line statements are handled as a unit</a:t>
          </a:r>
          <a:endParaRPr lang="en-US"/>
        </a:p>
      </dgm:t>
    </dgm:pt>
    <dgm:pt modelId="{E492680C-048D-4E52-B73F-E089117AC41F}" type="parTrans" cxnId="{29B3B231-9711-412D-ABA7-2ADC87C07C65}">
      <dgm:prSet/>
      <dgm:spPr/>
      <dgm:t>
        <a:bodyPr/>
        <a:lstStyle/>
        <a:p>
          <a:endParaRPr lang="en-US"/>
        </a:p>
      </dgm:t>
    </dgm:pt>
    <dgm:pt modelId="{FC6602DA-E2C9-4320-AA79-CC0E2EF2D5C3}" type="sibTrans" cxnId="{29B3B231-9711-412D-ABA7-2ADC87C07C65}">
      <dgm:prSet/>
      <dgm:spPr/>
      <dgm:t>
        <a:bodyPr/>
        <a:lstStyle/>
        <a:p>
          <a:endParaRPr lang="en-US"/>
        </a:p>
      </dgm:t>
    </dgm:pt>
    <dgm:pt modelId="{2449E37E-E27E-4F6E-83E2-17ACD5FA00AD}">
      <dgm:prSet/>
      <dgm:spPr/>
      <dgm:t>
        <a:bodyPr/>
        <a:lstStyle/>
        <a:p>
          <a:r>
            <a:rPr lang="en-US" b="0" i="0"/>
            <a:t>Available in the right-click context menu as the </a:t>
          </a:r>
          <a:r>
            <a:rPr lang="en-US" b="1" i="0"/>
            <a:t>first option listed</a:t>
          </a:r>
          <a:endParaRPr lang="en-US"/>
        </a:p>
      </dgm:t>
    </dgm:pt>
    <dgm:pt modelId="{AB809808-6F9A-4B4D-91B3-FE4FA29460BF}" type="parTrans" cxnId="{67902E4C-7F9D-48C5-998E-6F24F52A147C}">
      <dgm:prSet/>
      <dgm:spPr/>
      <dgm:t>
        <a:bodyPr/>
        <a:lstStyle/>
        <a:p>
          <a:endParaRPr lang="en-US"/>
        </a:p>
      </dgm:t>
    </dgm:pt>
    <dgm:pt modelId="{7DA4FF0F-D3AE-4450-9411-14621DFDB3D1}" type="sibTrans" cxnId="{67902E4C-7F9D-48C5-998E-6F24F52A147C}">
      <dgm:prSet/>
      <dgm:spPr/>
      <dgm:t>
        <a:bodyPr/>
        <a:lstStyle/>
        <a:p>
          <a:endParaRPr lang="en-US"/>
        </a:p>
      </dgm:t>
    </dgm:pt>
    <dgm:pt modelId="{0A65480C-14B3-444E-8C39-FE7E06B0372A}" type="pres">
      <dgm:prSet presAssocID="{28F6103A-EA57-46B1-9D2D-8BFDC16B31F3}" presName="linear" presStyleCnt="0">
        <dgm:presLayoutVars>
          <dgm:animLvl val="lvl"/>
          <dgm:resizeHandles val="exact"/>
        </dgm:presLayoutVars>
      </dgm:prSet>
      <dgm:spPr/>
    </dgm:pt>
    <dgm:pt modelId="{0D308E2B-E9B3-0B45-995F-C3326D8FE5E1}" type="pres">
      <dgm:prSet presAssocID="{D41AF3A4-61B2-48EE-8BC6-CAA152C58BC8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1562344-C4E6-654A-9ACF-377363B6B193}" type="pres">
      <dgm:prSet presAssocID="{094A9745-703E-4B0D-B344-DDF8D591C84D}" presName="spacer" presStyleCnt="0"/>
      <dgm:spPr/>
    </dgm:pt>
    <dgm:pt modelId="{E1848336-E869-604F-AB5E-032AE868F1E6}" type="pres">
      <dgm:prSet presAssocID="{2CB5234D-A9D6-4F60-B99A-A1F942FD97B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9814DC73-3DCB-B741-B7F6-7AC523ED9937}" type="pres">
      <dgm:prSet presAssocID="{4A3B058E-225E-4D46-9B29-F34A7087FF8B}" presName="spacer" presStyleCnt="0"/>
      <dgm:spPr/>
    </dgm:pt>
    <dgm:pt modelId="{FF032B86-0F40-354E-B929-F64646011499}" type="pres">
      <dgm:prSet presAssocID="{1D8C75FD-28A5-4A51-9F8E-4DF749C8110F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0A5D205-1A33-4B44-9200-32DE5368F8C4}" type="pres">
      <dgm:prSet presAssocID="{EC5E39C8-6AAE-4D65-962E-7DD27F4EEE70}" presName="spacer" presStyleCnt="0"/>
      <dgm:spPr/>
    </dgm:pt>
    <dgm:pt modelId="{7E1CDABB-CAFB-0B47-B2FA-B6CE5F3E19A7}" type="pres">
      <dgm:prSet presAssocID="{CD3CBF2C-1986-42BB-A1F6-AD01B9663E21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33015EBC-3C19-FB4E-8F8C-657853534DEC}" type="pres">
      <dgm:prSet presAssocID="{FC6602DA-E2C9-4320-AA79-CC0E2EF2D5C3}" presName="spacer" presStyleCnt="0"/>
      <dgm:spPr/>
    </dgm:pt>
    <dgm:pt modelId="{6F2128C8-1E17-0B4B-BE2A-361630624F32}" type="pres">
      <dgm:prSet presAssocID="{2449E37E-E27E-4F6E-83E2-17ACD5FA00AD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E76C52D-4EB8-46E6-B083-446F812C05F1}" srcId="{28F6103A-EA57-46B1-9D2D-8BFDC16B31F3}" destId="{1D8C75FD-28A5-4A51-9F8E-4DF749C8110F}" srcOrd="2" destOrd="0" parTransId="{6D2B471C-F306-4C44-A91F-738187025367}" sibTransId="{EC5E39C8-6AAE-4D65-962E-7DD27F4EEE70}"/>
    <dgm:cxn modelId="{29B3B231-9711-412D-ABA7-2ADC87C07C65}" srcId="{28F6103A-EA57-46B1-9D2D-8BFDC16B31F3}" destId="{CD3CBF2C-1986-42BB-A1F6-AD01B9663E21}" srcOrd="3" destOrd="0" parTransId="{E492680C-048D-4E52-B73F-E089117AC41F}" sibTransId="{FC6602DA-E2C9-4320-AA79-CC0E2EF2D5C3}"/>
    <dgm:cxn modelId="{67902E4C-7F9D-48C5-998E-6F24F52A147C}" srcId="{28F6103A-EA57-46B1-9D2D-8BFDC16B31F3}" destId="{2449E37E-E27E-4F6E-83E2-17ACD5FA00AD}" srcOrd="4" destOrd="0" parTransId="{AB809808-6F9A-4B4D-91B3-FE4FA29460BF}" sibTransId="{7DA4FF0F-D3AE-4450-9411-14621DFDB3D1}"/>
    <dgm:cxn modelId="{E73EE251-71D1-ED47-AAF7-2A3B431EE321}" type="presOf" srcId="{CD3CBF2C-1986-42BB-A1F6-AD01B9663E21}" destId="{7E1CDABB-CAFB-0B47-B2FA-B6CE5F3E19A7}" srcOrd="0" destOrd="0" presId="urn:microsoft.com/office/officeart/2005/8/layout/vList2"/>
    <dgm:cxn modelId="{8982FA70-88EE-4273-AE7C-3754168340E9}" srcId="{28F6103A-EA57-46B1-9D2D-8BFDC16B31F3}" destId="{2CB5234D-A9D6-4F60-B99A-A1F942FD97B9}" srcOrd="1" destOrd="0" parTransId="{56600745-F17F-4C77-8831-A4039ECEAEDA}" sibTransId="{4A3B058E-225E-4D46-9B29-F34A7087FF8B}"/>
    <dgm:cxn modelId="{F569A384-C914-EC4C-BE71-CBBBDB0BD8E3}" type="presOf" srcId="{28F6103A-EA57-46B1-9D2D-8BFDC16B31F3}" destId="{0A65480C-14B3-444E-8C39-FE7E06B0372A}" srcOrd="0" destOrd="0" presId="urn:microsoft.com/office/officeart/2005/8/layout/vList2"/>
    <dgm:cxn modelId="{0B58FA87-C871-844A-9171-FD68FC82E83A}" type="presOf" srcId="{2449E37E-E27E-4F6E-83E2-17ACD5FA00AD}" destId="{6F2128C8-1E17-0B4B-BE2A-361630624F32}" srcOrd="0" destOrd="0" presId="urn:microsoft.com/office/officeart/2005/8/layout/vList2"/>
    <dgm:cxn modelId="{5E8B2099-59DF-504F-BA0C-5853E93809AE}" type="presOf" srcId="{1D8C75FD-28A5-4A51-9F8E-4DF749C8110F}" destId="{FF032B86-0F40-354E-B929-F64646011499}" srcOrd="0" destOrd="0" presId="urn:microsoft.com/office/officeart/2005/8/layout/vList2"/>
    <dgm:cxn modelId="{375C84E0-1927-6B4C-BE51-750896E722D5}" type="presOf" srcId="{D41AF3A4-61B2-48EE-8BC6-CAA152C58BC8}" destId="{0D308E2B-E9B3-0B45-995F-C3326D8FE5E1}" srcOrd="0" destOrd="0" presId="urn:microsoft.com/office/officeart/2005/8/layout/vList2"/>
    <dgm:cxn modelId="{20287CE9-14A6-5149-80C6-8E5555AB0C92}" type="presOf" srcId="{2CB5234D-A9D6-4F60-B99A-A1F942FD97B9}" destId="{E1848336-E869-604F-AB5E-032AE868F1E6}" srcOrd="0" destOrd="0" presId="urn:microsoft.com/office/officeart/2005/8/layout/vList2"/>
    <dgm:cxn modelId="{D8CC18F2-7932-4F10-BD9B-5F4454DAE6BD}" srcId="{28F6103A-EA57-46B1-9D2D-8BFDC16B31F3}" destId="{D41AF3A4-61B2-48EE-8BC6-CAA152C58BC8}" srcOrd="0" destOrd="0" parTransId="{D0AF9214-1BC0-45AD-8FD1-E8A96C1F90BA}" sibTransId="{094A9745-703E-4B0D-B344-DDF8D591C84D}"/>
    <dgm:cxn modelId="{F23F5347-4900-004E-BA96-069111A4F722}" type="presParOf" srcId="{0A65480C-14B3-444E-8C39-FE7E06B0372A}" destId="{0D308E2B-E9B3-0B45-995F-C3326D8FE5E1}" srcOrd="0" destOrd="0" presId="urn:microsoft.com/office/officeart/2005/8/layout/vList2"/>
    <dgm:cxn modelId="{FF0EAD17-7910-0E4E-8FED-D8FDDB18028E}" type="presParOf" srcId="{0A65480C-14B3-444E-8C39-FE7E06B0372A}" destId="{01562344-C4E6-654A-9ACF-377363B6B193}" srcOrd="1" destOrd="0" presId="urn:microsoft.com/office/officeart/2005/8/layout/vList2"/>
    <dgm:cxn modelId="{1055B9AE-98A7-A448-8AB0-D5FD5B148C7A}" type="presParOf" srcId="{0A65480C-14B3-444E-8C39-FE7E06B0372A}" destId="{E1848336-E869-604F-AB5E-032AE868F1E6}" srcOrd="2" destOrd="0" presId="urn:microsoft.com/office/officeart/2005/8/layout/vList2"/>
    <dgm:cxn modelId="{4DC551A3-737E-814B-AF00-8287022BDD7F}" type="presParOf" srcId="{0A65480C-14B3-444E-8C39-FE7E06B0372A}" destId="{9814DC73-3DCB-B741-B7F6-7AC523ED9937}" srcOrd="3" destOrd="0" presId="urn:microsoft.com/office/officeart/2005/8/layout/vList2"/>
    <dgm:cxn modelId="{9C2D4489-F67E-BF4E-9358-AED49BCE5209}" type="presParOf" srcId="{0A65480C-14B3-444E-8C39-FE7E06B0372A}" destId="{FF032B86-0F40-354E-B929-F64646011499}" srcOrd="4" destOrd="0" presId="urn:microsoft.com/office/officeart/2005/8/layout/vList2"/>
    <dgm:cxn modelId="{64FAA983-53E4-F64E-AC9A-C814C9266557}" type="presParOf" srcId="{0A65480C-14B3-444E-8C39-FE7E06B0372A}" destId="{30A5D205-1A33-4B44-9200-32DE5368F8C4}" srcOrd="5" destOrd="0" presId="urn:microsoft.com/office/officeart/2005/8/layout/vList2"/>
    <dgm:cxn modelId="{18818955-36E0-C346-BE71-DD9B2BD538A3}" type="presParOf" srcId="{0A65480C-14B3-444E-8C39-FE7E06B0372A}" destId="{7E1CDABB-CAFB-0B47-B2FA-B6CE5F3E19A7}" srcOrd="6" destOrd="0" presId="urn:microsoft.com/office/officeart/2005/8/layout/vList2"/>
    <dgm:cxn modelId="{AB29D3FA-7379-E74B-AA9A-141E098BBD0E}" type="presParOf" srcId="{0A65480C-14B3-444E-8C39-FE7E06B0372A}" destId="{33015EBC-3C19-FB4E-8F8C-657853534DEC}" srcOrd="7" destOrd="0" presId="urn:microsoft.com/office/officeart/2005/8/layout/vList2"/>
    <dgm:cxn modelId="{F2E4F868-C06A-4A44-95B3-68BFD4E8612C}" type="presParOf" srcId="{0A65480C-14B3-444E-8C39-FE7E06B0372A}" destId="{6F2128C8-1E17-0B4B-BE2A-361630624F3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308E2B-E9B3-0B45-995F-C3326D8FE5E1}">
      <dsp:nvSpPr>
        <dsp:cNvPr id="0" name=""/>
        <dsp:cNvSpPr/>
      </dsp:nvSpPr>
      <dsp:spPr>
        <a:xfrm>
          <a:off x="0" y="320785"/>
          <a:ext cx="6832212" cy="87395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Select one line, multiple lines, or the entire file</a:t>
          </a:r>
          <a:endParaRPr lang="en-US" sz="2200" kern="1200"/>
        </a:p>
      </dsp:txBody>
      <dsp:txXfrm>
        <a:off x="42663" y="363448"/>
        <a:ext cx="6746886" cy="788627"/>
      </dsp:txXfrm>
    </dsp:sp>
    <dsp:sp modelId="{E1848336-E869-604F-AB5E-032AE868F1E6}">
      <dsp:nvSpPr>
        <dsp:cNvPr id="0" name=""/>
        <dsp:cNvSpPr/>
      </dsp:nvSpPr>
      <dsp:spPr>
        <a:xfrm>
          <a:off x="0" y="1258099"/>
          <a:ext cx="6832212" cy="873953"/>
        </a:xfrm>
        <a:prstGeom prst="roundRect">
          <a:avLst/>
        </a:prstGeom>
        <a:gradFill rotWithShape="0">
          <a:gsLst>
            <a:gs pos="0">
              <a:schemeClr val="accent2">
                <a:hueOff val="113291"/>
                <a:satOff val="-11998"/>
                <a:lumOff val="-294"/>
                <a:alphaOff val="0"/>
                <a:tint val="96000"/>
                <a:lumMod val="104000"/>
              </a:schemeClr>
            </a:gs>
            <a:gs pos="100000">
              <a:schemeClr val="accent2">
                <a:hueOff val="113291"/>
                <a:satOff val="-11998"/>
                <a:lumOff val="-294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Right-click → </a:t>
          </a:r>
          <a:r>
            <a:rPr lang="en-US" sz="2200" b="1" i="0" kern="1200"/>
            <a:t>"Convert RPG IV to Free Format"</a:t>
          </a:r>
          <a:endParaRPr lang="en-US" sz="2200" kern="1200"/>
        </a:p>
      </dsp:txBody>
      <dsp:txXfrm>
        <a:off x="42663" y="1300762"/>
        <a:ext cx="6746886" cy="788627"/>
      </dsp:txXfrm>
    </dsp:sp>
    <dsp:sp modelId="{FF032B86-0F40-354E-B929-F64646011499}">
      <dsp:nvSpPr>
        <dsp:cNvPr id="0" name=""/>
        <dsp:cNvSpPr/>
      </dsp:nvSpPr>
      <dsp:spPr>
        <a:xfrm>
          <a:off x="0" y="2195412"/>
          <a:ext cx="6832212" cy="873953"/>
        </a:xfrm>
        <a:prstGeom prst="roundRect">
          <a:avLst/>
        </a:prstGeom>
        <a:gradFill rotWithShape="0">
          <a:gsLst>
            <a:gs pos="0">
              <a:schemeClr val="accent2">
                <a:hueOff val="226582"/>
                <a:satOff val="-23996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226582"/>
                <a:satOff val="-23996"/>
                <a:lumOff val="-588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The selected fixed-format statements are replaced in-place with free-format equivalents</a:t>
          </a:r>
          <a:endParaRPr lang="en-US" sz="2200" kern="1200"/>
        </a:p>
      </dsp:txBody>
      <dsp:txXfrm>
        <a:off x="42663" y="2238075"/>
        <a:ext cx="6746886" cy="788627"/>
      </dsp:txXfrm>
    </dsp:sp>
    <dsp:sp modelId="{7E1CDABB-CAFB-0B47-B2FA-B6CE5F3E19A7}">
      <dsp:nvSpPr>
        <dsp:cNvPr id="0" name=""/>
        <dsp:cNvSpPr/>
      </dsp:nvSpPr>
      <dsp:spPr>
        <a:xfrm>
          <a:off x="0" y="3132726"/>
          <a:ext cx="6832212" cy="873953"/>
        </a:xfrm>
        <a:prstGeom prst="roundRect">
          <a:avLst/>
        </a:prstGeom>
        <a:gradFill rotWithShape="0">
          <a:gsLst>
            <a:gs pos="0">
              <a:schemeClr val="accent2">
                <a:hueOff val="339874"/>
                <a:satOff val="-35995"/>
                <a:lumOff val="-882"/>
                <a:alphaOff val="0"/>
                <a:tint val="96000"/>
                <a:lumMod val="104000"/>
              </a:schemeClr>
            </a:gs>
            <a:gs pos="100000">
              <a:schemeClr val="accent2">
                <a:hueOff val="339874"/>
                <a:satOff val="-35995"/>
                <a:lumOff val="-882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Operates at the </a:t>
          </a:r>
          <a:r>
            <a:rPr lang="en-US" sz="2200" b="0" i="1" kern="1200"/>
            <a:t>statement</a:t>
          </a:r>
          <a:r>
            <a:rPr lang="en-US" sz="2200" b="0" i="0" kern="1200"/>
            <a:t> level — multi-line statements are handled as a unit</a:t>
          </a:r>
          <a:endParaRPr lang="en-US" sz="2200" kern="1200"/>
        </a:p>
      </dsp:txBody>
      <dsp:txXfrm>
        <a:off x="42663" y="3175389"/>
        <a:ext cx="6746886" cy="788627"/>
      </dsp:txXfrm>
    </dsp:sp>
    <dsp:sp modelId="{6F2128C8-1E17-0B4B-BE2A-361630624F32}">
      <dsp:nvSpPr>
        <dsp:cNvPr id="0" name=""/>
        <dsp:cNvSpPr/>
      </dsp:nvSpPr>
      <dsp:spPr>
        <a:xfrm>
          <a:off x="0" y="4070039"/>
          <a:ext cx="6832212" cy="873953"/>
        </a:xfrm>
        <a:prstGeom prst="roundRect">
          <a:avLst/>
        </a:prstGeom>
        <a:gradFill rotWithShape="0">
          <a:gsLst>
            <a:gs pos="0">
              <a:schemeClr val="accent2">
                <a:hueOff val="453165"/>
                <a:satOff val="-47993"/>
                <a:lumOff val="-1176"/>
                <a:alphaOff val="0"/>
                <a:tint val="96000"/>
                <a:lumMod val="104000"/>
              </a:schemeClr>
            </a:gs>
            <a:gs pos="100000">
              <a:schemeClr val="accent2">
                <a:hueOff val="453165"/>
                <a:satOff val="-47993"/>
                <a:lumOff val="-1176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Available in the right-click context menu as the </a:t>
          </a:r>
          <a:r>
            <a:rPr lang="en-US" sz="2200" b="1" i="0" kern="1200"/>
            <a:t>first option listed</a:t>
          </a:r>
          <a:endParaRPr lang="en-US" sz="2200" kern="1200"/>
        </a:p>
      </dsp:txBody>
      <dsp:txXfrm>
        <a:off x="42663" y="4112702"/>
        <a:ext cx="6746886" cy="7886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7ABABA7-0420-4200-9B65-1C1967CE93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03E380-9CD1-4ABA-A763-9F9D252B8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bg2">
              <a:lumMod val="90000"/>
            </a:schemeClr>
          </a:solidFill>
        </p:grpSpPr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66E01B84-4C2B-4DE5-90C8-9C4001A75B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64CE5A7A-D5C5-4FE5-860C-0B5748FDE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016A7D2A-6EEA-47B8-A763-7D82E41B3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E758F6E7-6DEC-48D0-ACB1-E5E26B13E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B56657FF-C027-42E7-859B-902929B6F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79047F2A-5978-46C6-B3A2-54AAC2136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7">
              <a:extLst>
                <a:ext uri="{FF2B5EF4-FFF2-40B4-BE49-F238E27FC236}">
                  <a16:creationId xmlns:a16="http://schemas.microsoft.com/office/drawing/2014/main" id="{F3BE8FD1-0A72-4640-AC7A-2E057273F8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752FC782-A372-4D11-B20D-958955E56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9">
              <a:extLst>
                <a:ext uri="{FF2B5EF4-FFF2-40B4-BE49-F238E27FC236}">
                  <a16:creationId xmlns:a16="http://schemas.microsoft.com/office/drawing/2014/main" id="{AA00B2F1-BEE2-444A-8249-C8E3212CA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E7F5747E-514B-4CF7-B6B0-DAD7149097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1">
              <a:extLst>
                <a:ext uri="{FF2B5EF4-FFF2-40B4-BE49-F238E27FC236}">
                  <a16:creationId xmlns:a16="http://schemas.microsoft.com/office/drawing/2014/main" id="{931614BB-1593-40ED-8113-2BD118705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2691871F-F15C-4E19-BC9C-78E5748D74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Freeform 6">
            <a:extLst>
              <a:ext uri="{FF2B5EF4-FFF2-40B4-BE49-F238E27FC236}">
                <a16:creationId xmlns:a16="http://schemas.microsoft.com/office/drawing/2014/main" id="{8576F020-8157-45CE-B1D9-6FA47AFEB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1159566"/>
            <a:ext cx="7560245" cy="453886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9DFB0F-8C8E-054F-4840-21EB4275C5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7215" y="1318590"/>
            <a:ext cx="5102159" cy="4220820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RPG IV to Free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FAD3BC5-A4F5-E6CA-2A4D-2D01AC6609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12032" y="804334"/>
            <a:ext cx="3675634" cy="5249332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A Visual Studio CODE Extension</a:t>
            </a:r>
          </a:p>
          <a:p>
            <a:r>
              <a:rPr lang="en-US" dirty="0">
                <a:solidFill>
                  <a:schemeClr val="tx1"/>
                </a:solidFill>
              </a:rPr>
              <a:t>by Bob Cozzi</a:t>
            </a:r>
          </a:p>
        </p:txBody>
      </p:sp>
    </p:spTree>
    <p:extLst>
      <p:ext uri="{BB962C8B-B14F-4D97-AF65-F5344CB8AC3E}">
        <p14:creationId xmlns:p14="http://schemas.microsoft.com/office/powerpoint/2010/main" val="1872550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dirty="0"/>
              <a:t>RPG IV Fixed to Free Format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442" y="1508760"/>
            <a:ext cx="10392878" cy="5029200"/>
          </a:xfrm>
        </p:spPr>
        <p:txBody>
          <a:bodyPr wrap="square" lIns="109728" tIns="91440" rIns="109728" bIns="91440">
            <a:normAutofit lnSpcReduction="10000"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2400" b="0" i="0" dirty="0">
                <a:solidFill>
                  <a:srgbClr val="1A1A2E"/>
                </a:solidFill>
                <a:latin typeface="Calibri"/>
              </a:rPr>
              <a:t>Uses VS CODE for IBM </a:t>
            </a:r>
            <a:r>
              <a:rPr sz="2400" b="0" i="0" dirty="0" err="1">
                <a:solidFill>
                  <a:srgbClr val="1A1A2E"/>
                </a:solidFill>
                <a:latin typeface="Calibri"/>
              </a:rPr>
              <a:t>i</a:t>
            </a:r>
            <a:endParaRPr lang="en-US" sz="2400" b="0" i="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lang="en-US" sz="2400" b="0" i="0" dirty="0">
                <a:solidFill>
                  <a:srgbClr val="1A1A2E"/>
                </a:solidFill>
                <a:latin typeface="Calibri"/>
              </a:rPr>
              <a:t>3</a:t>
            </a:r>
            <a:r>
              <a:rPr lang="en-US" sz="2400" b="0" i="0" baseline="30000" dirty="0">
                <a:solidFill>
                  <a:srgbClr val="1A1A2E"/>
                </a:solidFill>
                <a:latin typeface="Calibri"/>
              </a:rPr>
              <a:t>rd</a:t>
            </a:r>
            <a:r>
              <a:rPr lang="en-US" sz="2400" b="0" i="0" dirty="0">
                <a:solidFill>
                  <a:srgbClr val="1A1A2E"/>
                </a:solidFill>
                <a:latin typeface="Calibri"/>
              </a:rPr>
              <a:t> Generation Extension for </a:t>
            </a:r>
            <a:r>
              <a:rPr lang="en-US" sz="2400" b="0" i="0" dirty="0" err="1">
                <a:solidFill>
                  <a:srgbClr val="1A1A2E"/>
                </a:solidFill>
                <a:latin typeface="Calibri"/>
              </a:rPr>
              <a:t>RPGIV</a:t>
            </a:r>
            <a:r>
              <a:rPr lang="en-US" sz="2400" b="0" i="0" dirty="0">
                <a:solidFill>
                  <a:srgbClr val="1A1A2E"/>
                </a:solidFill>
                <a:latin typeface="Calibri"/>
              </a:rPr>
              <a:t> to Free conversion</a:t>
            </a:r>
            <a:endParaRPr sz="2400" b="0" i="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2400" b="0" i="0" dirty="0">
                <a:solidFill>
                  <a:srgbClr val="1A1A2E"/>
                </a:solidFill>
                <a:latin typeface="Calibri"/>
              </a:rPr>
              <a:t>Convert 1 or more </a:t>
            </a:r>
            <a:r>
              <a:rPr lang="en-US" sz="2400" b="0" i="0" dirty="0">
                <a:solidFill>
                  <a:srgbClr val="1A1A2E"/>
                </a:solidFill>
                <a:latin typeface="Calibri"/>
              </a:rPr>
              <a:t>Fixed Format RPG IV s</a:t>
            </a:r>
            <a:r>
              <a:rPr sz="2400" b="0" i="0" dirty="0">
                <a:solidFill>
                  <a:srgbClr val="1A1A2E"/>
                </a:solidFill>
                <a:latin typeface="Calibri"/>
              </a:rPr>
              <a:t>tatements to free format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lang="en-US" sz="2400" b="0" i="0" dirty="0">
                <a:solidFill>
                  <a:srgbClr val="1A1A2E"/>
                </a:solidFill>
                <a:latin typeface="Calibri"/>
              </a:rPr>
              <a:t>Entire Source member at once via Select-ALL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lang="en-US" sz="2200" b="0" i="0" dirty="0" err="1">
                <a:solidFill>
                  <a:srgbClr val="1A1A2E"/>
                </a:solidFill>
                <a:latin typeface="Calibri"/>
              </a:rPr>
              <a:t>Cmd+A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 (MacOS) or </a:t>
            </a:r>
            <a:r>
              <a:rPr lang="en-US" sz="2200" b="0" i="0" dirty="0" err="1">
                <a:solidFill>
                  <a:srgbClr val="1A1A2E"/>
                </a:solidFill>
                <a:latin typeface="Calibri"/>
              </a:rPr>
              <a:t>Ctrl+A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 (windows)</a:t>
            </a:r>
            <a:endParaRPr sz="2200" b="0" i="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lang="en-US" sz="2400" b="0" i="0" dirty="0">
                <a:solidFill>
                  <a:srgbClr val="1A1A2E"/>
                </a:solidFill>
                <a:latin typeface="Calibri"/>
              </a:rPr>
              <a:t>Compound Statements are Supported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lang="en-US" sz="2200" dirty="0" err="1">
                <a:solidFill>
                  <a:srgbClr val="1A1A2E"/>
                </a:solidFill>
                <a:latin typeface="Calibri"/>
              </a:rPr>
              <a:t>IFxx</a:t>
            </a:r>
            <a:r>
              <a:rPr lang="en-US" sz="2200" dirty="0">
                <a:solidFill>
                  <a:srgbClr val="1A1A2E"/>
                </a:solidFill>
                <a:latin typeface="Calibri"/>
              </a:rPr>
              <a:t> </a:t>
            </a:r>
            <a:r>
              <a:rPr lang="en-US" sz="2200" dirty="0" err="1">
                <a:solidFill>
                  <a:srgbClr val="1A1A2E"/>
                </a:solidFill>
                <a:latin typeface="Calibri"/>
              </a:rPr>
              <a:t>ORxx</a:t>
            </a:r>
            <a:r>
              <a:rPr lang="en-US" sz="2200" dirty="0">
                <a:solidFill>
                  <a:srgbClr val="1A1A2E"/>
                </a:solidFill>
                <a:latin typeface="Calibri"/>
              </a:rPr>
              <a:t> </a:t>
            </a:r>
            <a:r>
              <a:rPr lang="en-US" sz="2200" dirty="0" err="1">
                <a:solidFill>
                  <a:srgbClr val="1A1A2E"/>
                </a:solidFill>
                <a:latin typeface="Calibri"/>
              </a:rPr>
              <a:t>CASxx</a:t>
            </a:r>
            <a:r>
              <a:rPr lang="en-US" sz="2200" dirty="0">
                <a:solidFill>
                  <a:srgbClr val="1A1A2E"/>
                </a:solidFill>
                <a:latin typeface="Calibri"/>
              </a:rPr>
              <a:t> </a:t>
            </a:r>
            <a:r>
              <a:rPr lang="en-US" sz="2200" dirty="0" err="1">
                <a:solidFill>
                  <a:srgbClr val="1A1A2E"/>
                </a:solidFill>
                <a:latin typeface="Calibri"/>
              </a:rPr>
              <a:t>WHENxx</a:t>
            </a:r>
            <a:endParaRPr lang="en-US" sz="220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2400" b="0" i="0" dirty="0">
                <a:solidFill>
                  <a:srgbClr val="1A1A2E"/>
                </a:solidFill>
                <a:latin typeface="Calibri"/>
              </a:rPr>
              <a:t>Context aware: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2200" b="0" i="0" dirty="0">
                <a:solidFill>
                  <a:srgbClr val="1A1A2E"/>
                </a:solidFill>
                <a:latin typeface="Calibri"/>
              </a:rPr>
              <a:t>Data Structures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2200" b="0" i="0" dirty="0">
                <a:solidFill>
                  <a:srgbClr val="1A1A2E"/>
                </a:solidFill>
                <a:latin typeface="Calibri"/>
              </a:rPr>
              <a:t>Procedure Parameter Lists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2200" b="0" i="0" dirty="0">
                <a:solidFill>
                  <a:srgbClr val="1A1A2E"/>
                </a:solidFill>
                <a:latin typeface="Calibri"/>
              </a:rPr>
              <a:t>Subroutine's GOTO </a:t>
            </a:r>
            <a:r>
              <a:rPr lang="en-US" sz="2200" dirty="0">
                <a:solidFill>
                  <a:srgbClr val="1A1A2E"/>
                </a:solidFill>
                <a:latin typeface="Calibri"/>
              </a:rPr>
              <a:t>&lt;</a:t>
            </a:r>
            <a:r>
              <a:rPr lang="en-US" sz="2200" b="0" i="1" dirty="0">
                <a:solidFill>
                  <a:srgbClr val="1A1A2E"/>
                </a:solidFill>
                <a:latin typeface="Calibri"/>
              </a:rPr>
              <a:t>end-label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&gt;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lang="en-US" sz="2400" dirty="0">
                <a:solidFill>
                  <a:srgbClr val="1A1A2E"/>
                </a:solidFill>
                <a:latin typeface="Calibri"/>
              </a:rPr>
              <a:t>Conditioning and Resulting Indicators are converted</a:t>
            </a:r>
            <a:endParaRPr sz="2400" b="0" i="0" dirty="0">
              <a:solidFill>
                <a:srgbClr val="1A1A2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7E42047-F7E7-4687-BBE0-D4BDC8E77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D6F839A-C8D9-4FBC-8EFD-9E56D12F4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906785" y="228600"/>
            <a:ext cx="2851523" cy="6638625"/>
            <a:chOff x="2487613" y="285750"/>
            <a:chExt cx="2428875" cy="5654676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D1F0D09B-BA85-41B1-A8DE-73728B72E5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B2D0F0C-3A27-4FC3-A6A3-D2095D9B24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FA1C69EF-E6E6-4BDD-B62F-637FC9F3C3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75B4F36E-07F6-4E6F-A9D9-A7F6D9585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7D9136C7-12F1-4F21-A438-ED7668DDFA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718EF12-B769-45D9-9B6E-7AEAA3108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34EAD53-3968-459E-B27C-09126A0FE3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7658BFE-59E2-4A2D-9E8A-18F81C350B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3FEC8A9E-385D-4407-9671-E30238022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EFC82234-632C-4B76-A8FF-2C9C0DCA6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62A4DB3-C195-4230-953D-307E4100FE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4D310CF-9541-4CD7-855B-E2E1EF3437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0EDA856-A216-4EEC-9AB6-A59FFC703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47733" y="-786"/>
            <a:ext cx="2356675" cy="6854040"/>
            <a:chOff x="6627813" y="194833"/>
            <a:chExt cx="1952625" cy="5678918"/>
          </a:xfrm>
        </p:grpSpPr>
        <p:sp>
          <p:nvSpPr>
            <p:cNvPr id="26" name="Freeform 27">
              <a:extLst>
                <a:ext uri="{FF2B5EF4-FFF2-40B4-BE49-F238E27FC236}">
                  <a16:creationId xmlns:a16="http://schemas.microsoft.com/office/drawing/2014/main" id="{36F815B8-AFA8-45E9-A3D1-977F2D1921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5D8FF653-8B3F-4B96-904D-1A4482EAEE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9">
              <a:extLst>
                <a:ext uri="{FF2B5EF4-FFF2-40B4-BE49-F238E27FC236}">
                  <a16:creationId xmlns:a16="http://schemas.microsoft.com/office/drawing/2014/main" id="{4DD2E775-AB45-4AF1-B5B7-54948CFB9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0">
              <a:extLst>
                <a:ext uri="{FF2B5EF4-FFF2-40B4-BE49-F238E27FC236}">
                  <a16:creationId xmlns:a16="http://schemas.microsoft.com/office/drawing/2014/main" id="{7BDE7E7B-E3AA-4A24-8F9D-CE77C96CA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1">
              <a:extLst>
                <a:ext uri="{FF2B5EF4-FFF2-40B4-BE49-F238E27FC236}">
                  <a16:creationId xmlns:a16="http://schemas.microsoft.com/office/drawing/2014/main" id="{D129CAA9-35E5-48CE-88AE-9806695CB8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2">
              <a:extLst>
                <a:ext uri="{FF2B5EF4-FFF2-40B4-BE49-F238E27FC236}">
                  <a16:creationId xmlns:a16="http://schemas.microsoft.com/office/drawing/2014/main" id="{A73989FF-4EFF-4181-81A4-72EF2E67DB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8C2C17BD-8FA0-4F42-B2CD-5E5A9F542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4">
              <a:extLst>
                <a:ext uri="{FF2B5EF4-FFF2-40B4-BE49-F238E27FC236}">
                  <a16:creationId xmlns:a16="http://schemas.microsoft.com/office/drawing/2014/main" id="{EEE99CF3-AD71-46FB-8E7D-67825F7816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5">
              <a:extLst>
                <a:ext uri="{FF2B5EF4-FFF2-40B4-BE49-F238E27FC236}">
                  <a16:creationId xmlns:a16="http://schemas.microsoft.com/office/drawing/2014/main" id="{D0F9D5ED-7591-4E88-9FDA-4C1DC47E9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6">
              <a:extLst>
                <a:ext uri="{FF2B5EF4-FFF2-40B4-BE49-F238E27FC236}">
                  <a16:creationId xmlns:a16="http://schemas.microsoft.com/office/drawing/2014/main" id="{88FA7C13-D80D-4514-B9DB-87AE076AC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7">
              <a:extLst>
                <a:ext uri="{FF2B5EF4-FFF2-40B4-BE49-F238E27FC236}">
                  <a16:creationId xmlns:a16="http://schemas.microsoft.com/office/drawing/2014/main" id="{202C78DF-D842-450B-A87D-E035719E4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8">
              <a:extLst>
                <a:ext uri="{FF2B5EF4-FFF2-40B4-BE49-F238E27FC236}">
                  <a16:creationId xmlns:a16="http://schemas.microsoft.com/office/drawing/2014/main" id="{A4789F83-2423-47F8-8958-48E477BAE0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9520" y="624110"/>
            <a:ext cx="6845092" cy="1280890"/>
          </a:xfrm>
        </p:spPr>
        <p:txBody>
          <a:bodyPr>
            <a:normAutofit/>
          </a:bodyPr>
          <a:lstStyle/>
          <a:p>
            <a:r>
              <a:t>The Problem We're Solving</a:t>
            </a:r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C509E7A-337A-4664-BEC2-03F9BCA0A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1632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" name="Freeform 11">
            <a:extLst>
              <a:ext uri="{FF2B5EF4-FFF2-40B4-BE49-F238E27FC236}">
                <a16:creationId xmlns:a16="http://schemas.microsoft.com/office/drawing/2014/main" id="{D9AB99AB-E300-4B19-97C3-9A12EA3C7B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2716320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E37B06-E77D-29B9-C079-980082F59E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33" r="52853"/>
          <a:stretch>
            <a:fillRect/>
          </a:stretch>
        </p:blipFill>
        <p:spPr>
          <a:xfrm>
            <a:off x="20" y="1730"/>
            <a:ext cx="2720524" cy="685800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33118" y="2133599"/>
            <a:ext cx="7471493" cy="4048031"/>
          </a:xfrm>
        </p:spPr>
        <p:txBody>
          <a:bodyPr lIns="109728" tIns="91440" rIns="109728" bIns="91440">
            <a:no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400" i="0" dirty="0">
                <a:latin typeface="Calibri"/>
              </a:rPr>
              <a:t>Legacy RPG IV fixed-format code is rigid, column-dependent, and hard to find new Developers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400" i="0" dirty="0">
                <a:latin typeface="Calibri"/>
              </a:rPr>
              <a:t>Free Format available since </a:t>
            </a:r>
            <a:r>
              <a:rPr lang="en-US" sz="2400" dirty="0">
                <a:latin typeface="Calibri"/>
              </a:rPr>
              <a:t>IBM </a:t>
            </a:r>
            <a:r>
              <a:rPr lang="en-US" sz="2400" dirty="0" err="1">
                <a:latin typeface="Calibri"/>
              </a:rPr>
              <a:t>i</a:t>
            </a:r>
            <a:r>
              <a:rPr lang="en-US" sz="2400" dirty="0">
                <a:latin typeface="Calibri"/>
              </a:rPr>
              <a:t> V7R1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i="0" dirty="0"/>
              <a:t>**FREE in V7R3+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400" i="0" dirty="0">
                <a:latin typeface="Calibri"/>
              </a:rPr>
              <a:t>Free Format </a:t>
            </a:r>
            <a:r>
              <a:rPr lang="en-US" sz="2400" dirty="0">
                <a:latin typeface="Calibri"/>
              </a:rPr>
              <a:t>can be </a:t>
            </a:r>
            <a:r>
              <a:rPr lang="en-US" sz="2400" i="0" dirty="0">
                <a:latin typeface="Calibri"/>
              </a:rPr>
              <a:t>more readable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dirty="0">
                <a:latin typeface="Calibri"/>
              </a:rPr>
              <a:t>Provides a</a:t>
            </a:r>
            <a:r>
              <a:rPr lang="en-US" sz="2200" i="0" dirty="0">
                <a:latin typeface="Calibri"/>
              </a:rPr>
              <a:t> modern interface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i="0" dirty="0">
                <a:latin typeface="Calibri"/>
              </a:rPr>
              <a:t>Plays nice with new editors (e.g., VS CODE, </a:t>
            </a:r>
            <a:r>
              <a:rPr lang="en-US" sz="2200" i="0" dirty="0" err="1">
                <a:latin typeface="Calibri"/>
              </a:rPr>
              <a:t>Rd</a:t>
            </a:r>
            <a:r>
              <a:rPr lang="en-US" sz="2200" dirty="0" err="1">
                <a:latin typeface="Calibri"/>
              </a:rPr>
              <a:t>i</a:t>
            </a:r>
            <a:r>
              <a:rPr lang="en-US" sz="2200" dirty="0">
                <a:latin typeface="Calibri"/>
              </a:rPr>
              <a:t>, IBM BOB)</a:t>
            </a:r>
            <a:endParaRPr lang="en-US" sz="2200" i="0" dirty="0">
              <a:latin typeface="Calibri"/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400" i="0" dirty="0">
                <a:latin typeface="Calibri"/>
              </a:rPr>
              <a:t>Manually converting to free format is tedious, error-prone, and time-consuming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400" i="0" dirty="0">
                <a:latin typeface="Calibri"/>
              </a:rPr>
              <a:t>The RPGIV2FREE extension automates the conversion process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What It Is (and What It Is Not)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92705" y="1905000"/>
            <a:ext cx="5110371" cy="4006222"/>
          </a:xfrm>
        </p:spPr>
        <p:txBody>
          <a:bodyPr lIns="109728" tIns="91440" rIns="109728" bIns="91440"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400" b="1" i="0" dirty="0">
                <a:latin typeface="Calibri"/>
              </a:rPr>
              <a:t>RPGIV2FREE IS: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b="0" i="0" dirty="0">
                <a:latin typeface="Calibri"/>
              </a:rPr>
              <a:t>A statement-level fixed-to-free format converter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dirty="0">
                <a:latin typeface="Calibri"/>
              </a:rPr>
              <a:t>Full source converter</a:t>
            </a:r>
            <a:endParaRPr lang="en-US" sz="2200" b="0" i="0" dirty="0">
              <a:latin typeface="Calibri"/>
            </a:endParaRP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b="0" i="0" dirty="0">
                <a:latin typeface="Calibri"/>
              </a:rPr>
              <a:t>A fixed-format editing assistant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C11CEA-2373-69D0-0603-E91436D897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03076" y="1905000"/>
            <a:ext cx="4601535" cy="3998844"/>
          </a:xfrm>
        </p:spPr>
        <p:txBody>
          <a:bodyPr>
            <a:normAutofit/>
          </a:bodyPr>
          <a:lstStyle/>
          <a:p>
            <a:r>
              <a:rPr lang="en-US" sz="2400" b="1" dirty="0"/>
              <a:t>RPGIV2FREE IS NOT</a:t>
            </a:r>
          </a:p>
          <a:p>
            <a:pPr lvl="1"/>
            <a:r>
              <a:rPr lang="en-US" sz="2400" dirty="0"/>
              <a:t>A Refactoring Tool</a:t>
            </a:r>
          </a:p>
          <a:p>
            <a:pPr lvl="1"/>
            <a:r>
              <a:rPr lang="en-US" sz="2400" dirty="0"/>
              <a:t>An RPG Cycle Modernization Tool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3D9AEEE-1CCD-43C0-BA3E-16D60A6E2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907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893" y="3101093"/>
            <a:ext cx="2454052" cy="3029344"/>
          </a:xfrm>
        </p:spPr>
        <p:txBody>
          <a:bodyPr>
            <a:normAutofit/>
          </a:bodyPr>
          <a:lstStyle/>
          <a:p>
            <a:r>
              <a:rPr lang="en-US" sz="3200">
                <a:solidFill>
                  <a:schemeClr val="bg1"/>
                </a:solidFill>
              </a:rPr>
              <a:t>How It Works (The Core Feature)</a:t>
            </a:r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60F880A6-33D3-4EEC-A780-B73559B9F2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179901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C6246ED-0535-4496-A8F6-1E80CC4E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5736" y="0"/>
            <a:ext cx="739626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57AB661-0369-578D-D658-5B8A81B747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6226238"/>
              </p:ext>
            </p:extLst>
          </p:nvPr>
        </p:nvGraphicFramePr>
        <p:xfrm>
          <a:off x="4713144" y="641551"/>
          <a:ext cx="6832212" cy="52647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66BF9EE-F7AC-4FA5-AC7E-001B3A642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3B48D182-44E3-4D8B-ACEF-F1A900BE4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355A535A-A489-477F-A314-593AA8CAF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954C2D4C-FD83-4EF4-9312-04442ABD66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C20701C2-CD9A-4698-BC97-E1085820C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5">
              <a:extLst>
                <a:ext uri="{FF2B5EF4-FFF2-40B4-BE49-F238E27FC236}">
                  <a16:creationId xmlns:a16="http://schemas.microsoft.com/office/drawing/2014/main" id="{62575C35-466F-42AE-87A1-D691849AB8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6">
              <a:extLst>
                <a:ext uri="{FF2B5EF4-FFF2-40B4-BE49-F238E27FC236}">
                  <a16:creationId xmlns:a16="http://schemas.microsoft.com/office/drawing/2014/main" id="{58236F37-6119-45AC-80A0-CD2C311B50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7">
              <a:extLst>
                <a:ext uri="{FF2B5EF4-FFF2-40B4-BE49-F238E27FC236}">
                  <a16:creationId xmlns:a16="http://schemas.microsoft.com/office/drawing/2014/main" id="{F3FDD799-39FE-4D6F-9A64-2F472B215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8">
              <a:extLst>
                <a:ext uri="{FF2B5EF4-FFF2-40B4-BE49-F238E27FC236}">
                  <a16:creationId xmlns:a16="http://schemas.microsoft.com/office/drawing/2014/main" id="{9820D241-1D49-442C-A95A-00BC1BF9E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EBC2197C-B383-4866-8ABD-74222400BE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404B06AA-FC93-4471-9DE4-56A401E70A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1">
              <a:extLst>
                <a:ext uri="{FF2B5EF4-FFF2-40B4-BE49-F238E27FC236}">
                  <a16:creationId xmlns:a16="http://schemas.microsoft.com/office/drawing/2014/main" id="{E580600C-013F-4FAF-8FB7-4CC0FA80A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2">
              <a:extLst>
                <a:ext uri="{FF2B5EF4-FFF2-40B4-BE49-F238E27FC236}">
                  <a16:creationId xmlns:a16="http://schemas.microsoft.com/office/drawing/2014/main" id="{9BFCF199-64B2-4AEE-88C4-E954ABF362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312DBA5-56D8-42B2-BA94-28168C2A6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4" name="Freeform 27">
              <a:extLst>
                <a:ext uri="{FF2B5EF4-FFF2-40B4-BE49-F238E27FC236}">
                  <a16:creationId xmlns:a16="http://schemas.microsoft.com/office/drawing/2014/main" id="{7AD46C74-3117-46B0-B267-0F61B57CA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8">
              <a:extLst>
                <a:ext uri="{FF2B5EF4-FFF2-40B4-BE49-F238E27FC236}">
                  <a16:creationId xmlns:a16="http://schemas.microsoft.com/office/drawing/2014/main" id="{8C13B810-9664-45D8-8510-D6ED0ADD72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9">
              <a:extLst>
                <a:ext uri="{FF2B5EF4-FFF2-40B4-BE49-F238E27FC236}">
                  <a16:creationId xmlns:a16="http://schemas.microsoft.com/office/drawing/2014/main" id="{10306E52-A922-4458-BCCE-C3C840CC7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0">
              <a:extLst>
                <a:ext uri="{FF2B5EF4-FFF2-40B4-BE49-F238E27FC236}">
                  <a16:creationId xmlns:a16="http://schemas.microsoft.com/office/drawing/2014/main" id="{CB578819-B7E7-4250-932F-52AE2A2A9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1">
              <a:extLst>
                <a:ext uri="{FF2B5EF4-FFF2-40B4-BE49-F238E27FC236}">
                  <a16:creationId xmlns:a16="http://schemas.microsoft.com/office/drawing/2014/main" id="{454B9C91-B623-424A-B16E-F764F189D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2">
              <a:extLst>
                <a:ext uri="{FF2B5EF4-FFF2-40B4-BE49-F238E27FC236}">
                  <a16:creationId xmlns:a16="http://schemas.microsoft.com/office/drawing/2014/main" id="{EFD03C4A-8484-41E6-B458-032F1DCA7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3">
              <a:extLst>
                <a:ext uri="{FF2B5EF4-FFF2-40B4-BE49-F238E27FC236}">
                  <a16:creationId xmlns:a16="http://schemas.microsoft.com/office/drawing/2014/main" id="{DDC2F3C3-1D4E-4913-9C5C-F9A65B47E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4">
              <a:extLst>
                <a:ext uri="{FF2B5EF4-FFF2-40B4-BE49-F238E27FC236}">
                  <a16:creationId xmlns:a16="http://schemas.microsoft.com/office/drawing/2014/main" id="{1E15BCA2-2420-4C53-ADE9-40FBAC2384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73D5FBF4-7129-4C51-B603-E3BC334195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0165B164-CE2A-494C-88FC-507232B37C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7">
              <a:extLst>
                <a:ext uri="{FF2B5EF4-FFF2-40B4-BE49-F238E27FC236}">
                  <a16:creationId xmlns:a16="http://schemas.microsoft.com/office/drawing/2014/main" id="{87F127E5-B10B-4D18-BCF0-E7C3C7F40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FC692D59-F28D-4E42-B435-225F2C6CFA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1996130F-9AB5-4DE9-8574-3AF891C5C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Freeform 6">
            <a:extLst>
              <a:ext uri="{FF2B5EF4-FFF2-40B4-BE49-F238E27FC236}">
                <a16:creationId xmlns:a16="http://schemas.microsoft.com/office/drawing/2014/main" id="{3623DEAC-F39C-45D6-86DC-1033F6429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692209D-B607-46C3-8560-07AF722916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4874638-CF15-4908-BC4B-4908744D0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4639734" cy="6858000"/>
          </a:xfrm>
          <a:prstGeom prst="rect">
            <a:avLst/>
          </a:prstGeom>
          <a:solidFill>
            <a:schemeClr val="tx2">
              <a:lumMod val="50000"/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279" y="967417"/>
            <a:ext cx="3778870" cy="394325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>
                <a:solidFill>
                  <a:srgbClr val="FEFFFF"/>
                </a:solidFill>
              </a:rPr>
              <a:t>Supported Specification Types</a:t>
            </a:r>
          </a:p>
        </p:txBody>
      </p:sp>
      <p:sp>
        <p:nvSpPr>
          <p:cNvPr id="45" name="Freeform 5">
            <a:extLst>
              <a:ext uri="{FF2B5EF4-FFF2-40B4-BE49-F238E27FC236}">
                <a16:creationId xmlns:a16="http://schemas.microsoft.com/office/drawing/2014/main" id="{5F1B8348-CD6E-4561-A704-C232D9A2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5033007"/>
            <a:ext cx="5404022" cy="857047"/>
          </a:xfrm>
          <a:custGeom>
            <a:avLst/>
            <a:gdLst>
              <a:gd name="T0" fmla="*/ 1114 w 1117"/>
              <a:gd name="T1" fmla="*/ 77 h 163"/>
              <a:gd name="T2" fmla="*/ 1040 w 1117"/>
              <a:gd name="T3" fmla="*/ 3 h 163"/>
              <a:gd name="T4" fmla="*/ 1039 w 1117"/>
              <a:gd name="T5" fmla="*/ 2 h 163"/>
              <a:gd name="T6" fmla="*/ 1034 w 1117"/>
              <a:gd name="T7" fmla="*/ 0 h 163"/>
              <a:gd name="T8" fmla="*/ 578 w 1117"/>
              <a:gd name="T9" fmla="*/ 0 h 163"/>
              <a:gd name="T10" fmla="*/ 562 w 1117"/>
              <a:gd name="T11" fmla="*/ 0 h 163"/>
              <a:gd name="T12" fmla="*/ 440 w 1117"/>
              <a:gd name="T13" fmla="*/ 0 h 163"/>
              <a:gd name="T14" fmla="*/ 106 w 1117"/>
              <a:gd name="T15" fmla="*/ 0 h 163"/>
              <a:gd name="T16" fmla="*/ 0 w 1117"/>
              <a:gd name="T17" fmla="*/ 0 h 163"/>
              <a:gd name="T18" fmla="*/ 0 w 1117"/>
              <a:gd name="T19" fmla="*/ 163 h 163"/>
              <a:gd name="T20" fmla="*/ 106 w 1117"/>
              <a:gd name="T21" fmla="*/ 163 h 163"/>
              <a:gd name="T22" fmla="*/ 440 w 1117"/>
              <a:gd name="T23" fmla="*/ 163 h 163"/>
              <a:gd name="T24" fmla="*/ 562 w 1117"/>
              <a:gd name="T25" fmla="*/ 163 h 163"/>
              <a:gd name="T26" fmla="*/ 578 w 1117"/>
              <a:gd name="T27" fmla="*/ 163 h 163"/>
              <a:gd name="T28" fmla="*/ 1034 w 1117"/>
              <a:gd name="T29" fmla="*/ 163 h 163"/>
              <a:gd name="T30" fmla="*/ 1039 w 1117"/>
              <a:gd name="T31" fmla="*/ 161 h 163"/>
              <a:gd name="T32" fmla="*/ 1040 w 1117"/>
              <a:gd name="T33" fmla="*/ 160 h 163"/>
              <a:gd name="T34" fmla="*/ 1114 w 1117"/>
              <a:gd name="T35" fmla="*/ 86 h 163"/>
              <a:gd name="T36" fmla="*/ 1114 w 1117"/>
              <a:gd name="T37" fmla="*/ 77 h 1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117" h="163">
                <a:moveTo>
                  <a:pt x="1114" y="77"/>
                </a:moveTo>
                <a:cubicBezTo>
                  <a:pt x="1040" y="3"/>
                  <a:pt x="1040" y="3"/>
                  <a:pt x="1040" y="3"/>
                </a:cubicBezTo>
                <a:cubicBezTo>
                  <a:pt x="1040" y="2"/>
                  <a:pt x="1039" y="2"/>
                  <a:pt x="1039" y="2"/>
                </a:cubicBezTo>
                <a:cubicBezTo>
                  <a:pt x="1038" y="1"/>
                  <a:pt x="1036" y="0"/>
                  <a:pt x="1034" y="0"/>
                </a:cubicBezTo>
                <a:cubicBezTo>
                  <a:pt x="578" y="0"/>
                  <a:pt x="578" y="0"/>
                  <a:pt x="578" y="0"/>
                </a:cubicBezTo>
                <a:cubicBezTo>
                  <a:pt x="562" y="0"/>
                  <a:pt x="562" y="0"/>
                  <a:pt x="562" y="0"/>
                </a:cubicBezTo>
                <a:cubicBezTo>
                  <a:pt x="440" y="0"/>
                  <a:pt x="440" y="0"/>
                  <a:pt x="440" y="0"/>
                </a:cubicBezTo>
                <a:cubicBezTo>
                  <a:pt x="106" y="0"/>
                  <a:pt x="106" y="0"/>
                  <a:pt x="106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3"/>
                  <a:pt x="0" y="163"/>
                  <a:pt x="0" y="163"/>
                </a:cubicBezTo>
                <a:cubicBezTo>
                  <a:pt x="106" y="163"/>
                  <a:pt x="106" y="163"/>
                  <a:pt x="106" y="163"/>
                </a:cubicBezTo>
                <a:cubicBezTo>
                  <a:pt x="440" y="163"/>
                  <a:pt x="440" y="163"/>
                  <a:pt x="440" y="163"/>
                </a:cubicBezTo>
                <a:cubicBezTo>
                  <a:pt x="562" y="163"/>
                  <a:pt x="562" y="163"/>
                  <a:pt x="562" y="163"/>
                </a:cubicBezTo>
                <a:cubicBezTo>
                  <a:pt x="578" y="163"/>
                  <a:pt x="578" y="163"/>
                  <a:pt x="578" y="163"/>
                </a:cubicBezTo>
                <a:cubicBezTo>
                  <a:pt x="1034" y="163"/>
                  <a:pt x="1034" y="163"/>
                  <a:pt x="1034" y="163"/>
                </a:cubicBezTo>
                <a:cubicBezTo>
                  <a:pt x="1036" y="163"/>
                  <a:pt x="1038" y="162"/>
                  <a:pt x="1039" y="161"/>
                </a:cubicBezTo>
                <a:cubicBezTo>
                  <a:pt x="1039" y="160"/>
                  <a:pt x="1040" y="160"/>
                  <a:pt x="1040" y="160"/>
                </a:cubicBezTo>
                <a:cubicBezTo>
                  <a:pt x="1114" y="86"/>
                  <a:pt x="1114" y="86"/>
                  <a:pt x="1114" y="86"/>
                </a:cubicBezTo>
                <a:cubicBezTo>
                  <a:pt x="1117" y="83"/>
                  <a:pt x="1117" y="79"/>
                  <a:pt x="1114" y="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7315200"/>
            <a:ext cx="0" cy="9144"/>
          </a:xfrm>
        </p:spPr>
        <p:txBody>
          <a:bodyPr>
            <a:normAutofit fontScale="25000" lnSpcReduction="20000"/>
          </a:bodyPr>
          <a:lstStyle/>
          <a:p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9250606"/>
              </p:ext>
            </p:extLst>
          </p:nvPr>
        </p:nvGraphicFramePr>
        <p:xfrm>
          <a:off x="5342886" y="1984395"/>
          <a:ext cx="6544314" cy="32168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31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70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08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 marL="105649" marR="105649" marT="52825" marB="52825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FFFFFF"/>
                          </a:solidFill>
                          <a:latin typeface="Calibri"/>
                        </a:rPr>
                        <a:t>Fixed-Format Example</a:t>
                      </a:r>
                    </a:p>
                  </a:txBody>
                  <a:tcPr marL="105649" marR="105649" marT="52825" marB="52825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FFFFFF"/>
                          </a:solidFill>
                          <a:latin typeface="Calibri"/>
                        </a:rPr>
                        <a:t>Free-Format Output</a:t>
                      </a:r>
                    </a:p>
                  </a:txBody>
                  <a:tcPr marL="105649" marR="105649" marT="52825" marB="52825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08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H (Header)</a:t>
                      </a:r>
                    </a:p>
                  </a:txBody>
                  <a:tcPr marL="105649" marR="105649" marT="52825" marB="52825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H DFTACTGRP(*NO)</a:t>
                      </a:r>
                    </a:p>
                  </a:txBody>
                  <a:tcPr marL="105649" marR="105649" marT="52825" marB="52825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CTL-OPT DFTACTGRP(*NO);</a:t>
                      </a:r>
                    </a:p>
                  </a:txBody>
                  <a:tcPr marL="105649" marR="105649" marT="52825" marB="528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0507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F (File)</a:t>
                      </a:r>
                    </a:p>
                  </a:txBody>
                  <a:tcPr marL="105649" marR="105649" marT="52825" marB="52825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F CUSTMAST IF E K DISK</a:t>
                      </a:r>
                    </a:p>
                  </a:txBody>
                  <a:tcPr marL="105649" marR="105649" marT="52825" marB="52825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1A1A2E"/>
                          </a:solidFill>
                          <a:latin typeface="Calibri"/>
                        </a:rPr>
                        <a:t>DCL-F </a:t>
                      </a:r>
                      <a:r>
                        <a:rPr lang="en-US" sz="1600" dirty="0" err="1">
                          <a:solidFill>
                            <a:srgbClr val="1A1A2E"/>
                          </a:solidFill>
                          <a:latin typeface="Calibri"/>
                        </a:rPr>
                        <a:t>CUSTMAST</a:t>
                      </a:r>
                      <a:r>
                        <a:rPr lang="en-US" sz="1600" dirty="0">
                          <a:solidFill>
                            <a:srgbClr val="1A1A2E"/>
                          </a:solidFill>
                          <a:latin typeface="Calibri"/>
                        </a:rPr>
                        <a:t> DISK USAGE(*INPUT) KEYED;</a:t>
                      </a:r>
                    </a:p>
                  </a:txBody>
                  <a:tcPr marL="105649" marR="105649" marT="52825" marB="52825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08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D (Definition)</a:t>
                      </a:r>
                    </a:p>
                  </a:txBody>
                  <a:tcPr marL="105649" marR="105649" marT="52825" marB="52825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1A1A2E"/>
                          </a:solidFill>
                          <a:latin typeface="Calibri"/>
                        </a:rPr>
                        <a:t>D </a:t>
                      </a:r>
                      <a:r>
                        <a:rPr lang="en-US" sz="1600" dirty="0" err="1">
                          <a:solidFill>
                            <a:srgbClr val="1A1A2E"/>
                          </a:solidFill>
                          <a:latin typeface="Calibri"/>
                        </a:rPr>
                        <a:t>myVar</a:t>
                      </a:r>
                      <a:r>
                        <a:rPr lang="en-US" sz="1600" dirty="0">
                          <a:solidFill>
                            <a:srgbClr val="1A1A2E"/>
                          </a:solidFill>
                          <a:latin typeface="Calibri"/>
                        </a:rPr>
                        <a:t>        S             10A</a:t>
                      </a:r>
                    </a:p>
                  </a:txBody>
                  <a:tcPr marL="105649" marR="105649" marT="52825" marB="52825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DCL-S myVar CHAR(10);</a:t>
                      </a:r>
                    </a:p>
                  </a:txBody>
                  <a:tcPr marL="105649" marR="105649" marT="52825" marB="528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08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C (Calculation)</a:t>
                      </a:r>
                    </a:p>
                  </a:txBody>
                  <a:tcPr marL="105649" marR="105649" marT="52825" marB="52825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1A1A2E"/>
                          </a:solidFill>
                          <a:latin typeface="Calibri"/>
                        </a:rPr>
                        <a:t>C        EVAL         result = a + b</a:t>
                      </a:r>
                    </a:p>
                  </a:txBody>
                  <a:tcPr marL="105649" marR="105649" marT="52825" marB="52825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result = a + b;</a:t>
                      </a:r>
                    </a:p>
                  </a:txBody>
                  <a:tcPr marL="105649" marR="105649" marT="52825" marB="52825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08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P (Procedure)</a:t>
                      </a:r>
                    </a:p>
                  </a:txBody>
                  <a:tcPr marL="105649" marR="105649" marT="52825" marB="52825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1A1A2E"/>
                          </a:solidFill>
                          <a:latin typeface="Calibri"/>
                        </a:rPr>
                        <a:t>P </a:t>
                      </a:r>
                      <a:r>
                        <a:rPr lang="en-US" sz="1600" dirty="0" err="1">
                          <a:solidFill>
                            <a:srgbClr val="1A1A2E"/>
                          </a:solidFill>
                          <a:latin typeface="Calibri"/>
                        </a:rPr>
                        <a:t>myProc</a:t>
                      </a:r>
                      <a:r>
                        <a:rPr lang="en-US" sz="1600" dirty="0">
                          <a:solidFill>
                            <a:srgbClr val="1A1A2E"/>
                          </a:solidFill>
                          <a:latin typeface="Calibri"/>
                        </a:rPr>
                        <a:t>      B</a:t>
                      </a:r>
                    </a:p>
                  </a:txBody>
                  <a:tcPr marL="105649" marR="105649" marT="52825" marB="52825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DCL-PROC myProc;</a:t>
                      </a:r>
                    </a:p>
                  </a:txBody>
                  <a:tcPr marL="105649" marR="105649" marT="52825" marB="528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0507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105649" marR="105649" marT="52825" marB="52825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1A1A2E"/>
                          </a:solidFill>
                          <a:latin typeface="Calibri"/>
                        </a:rPr>
                        <a:t>/EXEC SQL blocks</a:t>
                      </a:r>
                    </a:p>
                  </a:txBody>
                  <a:tcPr marL="105649" marR="105649" marT="52825" marB="52825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1A1A2E"/>
                          </a:solidFill>
                          <a:latin typeface="Calibri"/>
                        </a:rPr>
                        <a:t>Reformatted free-style SQL embed</a:t>
                      </a:r>
                    </a:p>
                  </a:txBody>
                  <a:tcPr marL="105649" marR="105649" marT="52825" marB="52825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7E6C5E-6351-CE8C-7983-5DDCBCD6C638}"/>
              </a:ext>
            </a:extLst>
          </p:cNvPr>
          <p:cNvSpPr txBox="1"/>
          <p:nvPr/>
        </p:nvSpPr>
        <p:spPr>
          <a:xfrm rot="21399369">
            <a:off x="6202830" y="5554906"/>
            <a:ext cx="4066674" cy="830997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No Input Spec Support</a:t>
            </a:r>
          </a:p>
          <a:p>
            <a:r>
              <a:rPr lang="en-US" sz="2400" dirty="0"/>
              <a:t>No Output Spec Support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dirty="0"/>
              <a:t>Multi-Line </a:t>
            </a:r>
            <a:r>
              <a:rPr lang="en-US" dirty="0"/>
              <a:t>/</a:t>
            </a:r>
            <a:r>
              <a:rPr dirty="0"/>
              <a:t> Compound Statement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109728" tIns="91440" rIns="109728" bIns="91440"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400" b="0" i="0" dirty="0">
                <a:solidFill>
                  <a:srgbClr val="1A1A2E"/>
                </a:solidFill>
                <a:latin typeface="Calibri"/>
              </a:rPr>
              <a:t>A single RPG </a:t>
            </a:r>
            <a:r>
              <a:rPr sz="2400" b="0" i="1" dirty="0">
                <a:solidFill>
                  <a:srgbClr val="666666"/>
                </a:solidFill>
                <a:latin typeface="Calibri"/>
              </a:rPr>
              <a:t>statement</a:t>
            </a:r>
            <a:r>
              <a:rPr sz="2400" b="0" i="0" dirty="0">
                <a:solidFill>
                  <a:srgbClr val="1A1A2E"/>
                </a:solidFill>
                <a:latin typeface="Calibri"/>
              </a:rPr>
              <a:t> can span many physical lines </a:t>
            </a:r>
            <a:endParaRPr lang="en-US" sz="2400" b="0" i="0" dirty="0">
              <a:solidFill>
                <a:srgbClr val="1A1A2E"/>
              </a:solidFill>
              <a:latin typeface="Calibri"/>
            </a:endParaRP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2200" b="0" i="0" dirty="0">
                <a:solidFill>
                  <a:srgbClr val="1A1A2E"/>
                </a:solidFill>
                <a:latin typeface="Calibri"/>
              </a:rPr>
              <a:t>D-spec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s</a:t>
            </a:r>
            <a:r>
              <a:rPr sz="22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w/long lists of </a:t>
            </a:r>
            <a:r>
              <a:rPr sz="2200" b="0" i="0" dirty="0">
                <a:solidFill>
                  <a:srgbClr val="1A1A2E"/>
                </a:solidFill>
                <a:latin typeface="Calibri"/>
              </a:rPr>
              <a:t>keyword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s or literal value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dirty="0">
                <a:solidFill>
                  <a:srgbClr val="1A1A2E"/>
                </a:solidFill>
                <a:latin typeface="Calibri"/>
              </a:rPr>
              <a:t>C</a:t>
            </a:r>
            <a:r>
              <a:rPr sz="2200" b="0" i="0" dirty="0">
                <a:solidFill>
                  <a:srgbClr val="1A1A2E"/>
                </a:solidFill>
                <a:latin typeface="Calibri"/>
              </a:rPr>
              <a:t>ompound </a:t>
            </a:r>
            <a:r>
              <a:rPr sz="2200" b="0" i="0" dirty="0" err="1">
                <a:solidFill>
                  <a:srgbClr val="1A1A2E"/>
                </a:solidFill>
                <a:latin typeface="Calibri"/>
              </a:rPr>
              <a:t>IF</a:t>
            </a:r>
            <a:r>
              <a:rPr lang="en-US" sz="2200" b="0" i="0" dirty="0" err="1">
                <a:solidFill>
                  <a:srgbClr val="1A1A2E"/>
                </a:solidFill>
                <a:latin typeface="Calibri"/>
              </a:rPr>
              <a:t>xx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/</a:t>
            </a:r>
            <a:r>
              <a:rPr lang="en-US" sz="2200" b="0" i="0" dirty="0" err="1">
                <a:solidFill>
                  <a:srgbClr val="1A1A2E"/>
                </a:solidFill>
                <a:latin typeface="Calibri"/>
              </a:rPr>
              <a:t>ORxx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/</a:t>
            </a:r>
            <a:r>
              <a:rPr lang="en-US" sz="2200" b="0" i="0" dirty="0" err="1">
                <a:solidFill>
                  <a:srgbClr val="1A1A2E"/>
                </a:solidFill>
                <a:latin typeface="Calibri"/>
              </a:rPr>
              <a:t>ANDxx</a:t>
            </a:r>
            <a:r>
              <a:rPr sz="2200" b="0" i="0" dirty="0">
                <a:solidFill>
                  <a:srgbClr val="1A1A2E"/>
                </a:solidFill>
                <a:latin typeface="Calibri"/>
              </a:rPr>
              <a:t> blocks</a:t>
            </a:r>
            <a:endParaRPr lang="en-US" sz="2200" b="0" i="0" dirty="0">
              <a:solidFill>
                <a:srgbClr val="1A1A2E"/>
              </a:solidFill>
              <a:latin typeface="Calibri"/>
            </a:endParaRP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b="0" i="0" dirty="0" err="1">
                <a:solidFill>
                  <a:srgbClr val="1A1A2E"/>
                </a:solidFill>
                <a:latin typeface="Calibri"/>
              </a:rPr>
              <a:t>OpCodes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 conditioned by Multiple Conditioning Indicators</a:t>
            </a:r>
            <a:endParaRPr sz="2200" b="0" i="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400" b="0" i="0" dirty="0">
                <a:solidFill>
                  <a:srgbClr val="1A1A2E"/>
                </a:solidFill>
                <a:latin typeface="Calibri"/>
              </a:rPr>
              <a:t>Place cursor </a:t>
            </a:r>
            <a:r>
              <a:rPr sz="2400" b="1" i="0" dirty="0">
                <a:solidFill>
                  <a:srgbClr val="1F497D"/>
                </a:solidFill>
                <a:latin typeface="Calibri"/>
              </a:rPr>
              <a:t>anywhere</a:t>
            </a:r>
            <a:r>
              <a:rPr sz="2400" b="0" i="0" dirty="0">
                <a:solidFill>
                  <a:srgbClr val="1A1A2E"/>
                </a:solidFill>
                <a:latin typeface="Calibri"/>
              </a:rPr>
              <a:t> on the statement</a:t>
            </a:r>
            <a:endParaRPr lang="en-US" sz="2400" b="0" i="0" dirty="0">
              <a:solidFill>
                <a:srgbClr val="1A1A2E"/>
              </a:solidFill>
              <a:latin typeface="Calibri"/>
            </a:endParaRP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R</a:t>
            </a:r>
            <a:r>
              <a:rPr sz="2200" b="0" i="0" dirty="0">
                <a:solidFill>
                  <a:srgbClr val="1A1A2E"/>
                </a:solidFill>
                <a:latin typeface="Calibri"/>
              </a:rPr>
              <a:t>ight-click → 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"Convert RPG IV to Free Format"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200" b="1" i="0" dirty="0">
                <a:solidFill>
                  <a:srgbClr val="1F497D"/>
                </a:solidFill>
                <a:latin typeface="Calibri"/>
              </a:rPr>
              <a:t>E</a:t>
            </a:r>
            <a:r>
              <a:rPr sz="2200" b="1" i="0" dirty="0">
                <a:solidFill>
                  <a:srgbClr val="1F497D"/>
                </a:solidFill>
                <a:latin typeface="Calibri"/>
              </a:rPr>
              <a:t>ntire statement</a:t>
            </a:r>
            <a:r>
              <a:rPr sz="22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lang="en-US" sz="2200" b="0" i="0" dirty="0">
                <a:solidFill>
                  <a:srgbClr val="1A1A2E"/>
                </a:solidFill>
                <a:latin typeface="Calibri"/>
              </a:rPr>
              <a:t>is converted</a:t>
            </a:r>
            <a:endParaRPr sz="2200" b="0" i="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400" b="0" i="0" dirty="0">
                <a:solidFill>
                  <a:srgbClr val="1A1A2E"/>
                </a:solidFill>
                <a:latin typeface="Calibri"/>
              </a:rPr>
              <a:t>Supports compound opcodes: </a:t>
            </a:r>
            <a:r>
              <a:rPr sz="2400" b="0" i="0" dirty="0" err="1">
                <a:solidFill>
                  <a:srgbClr val="B5204F"/>
                </a:solidFill>
                <a:latin typeface="Courier New"/>
              </a:rPr>
              <a:t>IFxx</a:t>
            </a:r>
            <a:r>
              <a:rPr sz="2400" b="0" i="0" dirty="0">
                <a:solidFill>
                  <a:srgbClr val="B5204F"/>
                </a:solidFill>
                <a:latin typeface="Courier New"/>
              </a:rPr>
              <a:t>/</a:t>
            </a:r>
            <a:r>
              <a:rPr sz="2400" b="0" i="0" dirty="0" err="1">
                <a:solidFill>
                  <a:srgbClr val="B5204F"/>
                </a:solidFill>
                <a:latin typeface="Courier New"/>
              </a:rPr>
              <a:t>ANDxx</a:t>
            </a:r>
            <a:r>
              <a:rPr sz="2400" b="0" i="0" dirty="0">
                <a:solidFill>
                  <a:srgbClr val="B5204F"/>
                </a:solidFill>
                <a:latin typeface="Courier New"/>
              </a:rPr>
              <a:t>/</a:t>
            </a:r>
            <a:r>
              <a:rPr sz="2400" b="0" i="0" dirty="0" err="1">
                <a:solidFill>
                  <a:srgbClr val="B5204F"/>
                </a:solidFill>
                <a:latin typeface="Courier New"/>
              </a:rPr>
              <a:t>ORxx</a:t>
            </a:r>
            <a:r>
              <a:rPr sz="2400" b="0" i="0" dirty="0">
                <a:solidFill>
                  <a:srgbClr val="B5204F"/>
                </a:solidFill>
                <a:latin typeface="Courier New"/>
              </a:rPr>
              <a:t>/</a:t>
            </a:r>
            <a:r>
              <a:rPr lang="en-US" sz="2400" b="0" i="0" dirty="0">
                <a:solidFill>
                  <a:srgbClr val="B5204F"/>
                </a:solidFill>
                <a:latin typeface="Courier New"/>
              </a:rPr>
              <a:t>SELECT/</a:t>
            </a:r>
            <a:r>
              <a:rPr sz="2400" b="0" i="0" dirty="0" err="1">
                <a:solidFill>
                  <a:srgbClr val="B5204F"/>
                </a:solidFill>
                <a:latin typeface="Courier New"/>
              </a:rPr>
              <a:t>WHENxx</a:t>
            </a:r>
            <a:r>
              <a:rPr sz="2400" b="0" i="0" dirty="0">
                <a:solidFill>
                  <a:srgbClr val="B5204F"/>
                </a:solidFill>
                <a:latin typeface="Courier New"/>
              </a:rPr>
              <a:t>/</a:t>
            </a:r>
            <a:r>
              <a:rPr sz="2400" b="0" i="0" dirty="0" err="1">
                <a:solidFill>
                  <a:srgbClr val="B5204F"/>
                </a:solidFill>
                <a:latin typeface="Courier New"/>
              </a:rPr>
              <a:t>CASxx</a:t>
            </a:r>
            <a:endParaRPr sz="2400" b="0" i="0" dirty="0">
              <a:solidFill>
                <a:srgbClr val="1A1A2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354D-81E9-8C51-A0DF-5F2D9F9B7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CASxx</a:t>
            </a:r>
            <a:r>
              <a:rPr lang="en-US" dirty="0"/>
              <a:t> Block – Best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19538F-93E7-413D-6864-4E5C658B8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CASxx</a:t>
            </a:r>
            <a:r>
              <a:rPr lang="en-US" sz="2400" dirty="0"/>
              <a:t> blocks should be selected entirely</a:t>
            </a:r>
          </a:p>
          <a:p>
            <a:pPr lvl="1"/>
            <a:r>
              <a:rPr lang="en-US" sz="2200" dirty="0"/>
              <a:t>Select First </a:t>
            </a:r>
            <a:r>
              <a:rPr lang="en-US" sz="2200" dirty="0" err="1"/>
              <a:t>CASxx</a:t>
            </a:r>
            <a:r>
              <a:rPr lang="en-US" sz="2200" dirty="0"/>
              <a:t> statement through </a:t>
            </a:r>
            <a:r>
              <a:rPr lang="en-US" sz="2200" dirty="0" err="1"/>
              <a:t>ENDCS</a:t>
            </a:r>
            <a:r>
              <a:rPr lang="en-US" sz="2200" dirty="0"/>
              <a:t> statement</a:t>
            </a:r>
          </a:p>
          <a:p>
            <a:r>
              <a:rPr lang="en-US" sz="2400" dirty="0"/>
              <a:t>Right-click "Convert RPG IV to Free Format"</a:t>
            </a:r>
          </a:p>
          <a:p>
            <a:pPr lvl="1"/>
            <a:r>
              <a:rPr lang="en-US" sz="2200" dirty="0" err="1"/>
              <a:t>CASxx</a:t>
            </a:r>
            <a:r>
              <a:rPr lang="en-US" sz="2200" dirty="0"/>
              <a:t> block is converted to IF / ELSEIF / ENDIF block</a:t>
            </a:r>
          </a:p>
          <a:p>
            <a:pPr lvl="1"/>
            <a:endParaRPr lang="en-US" sz="2200" dirty="0"/>
          </a:p>
          <a:p>
            <a:r>
              <a:rPr lang="en-US" sz="2400" dirty="0"/>
              <a:t>Will convert anyway, but look goofy if done individually</a:t>
            </a:r>
          </a:p>
        </p:txBody>
      </p:sp>
    </p:spTree>
    <p:extLst>
      <p:ext uri="{BB962C8B-B14F-4D97-AF65-F5344CB8AC3E}">
        <p14:creationId xmlns:p14="http://schemas.microsoft.com/office/powerpoint/2010/main" val="4072810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9FE08D8-CEA0-461E-870A-02CD15D9B9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907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893" y="3101093"/>
            <a:ext cx="2454052" cy="3029344"/>
          </a:xfrm>
        </p:spPr>
        <p:txBody>
          <a:bodyPr>
            <a:normAutofit/>
          </a:bodyPr>
          <a:lstStyle/>
          <a:p>
            <a:r>
              <a:rPr lang="en-US" sz="3200">
                <a:solidFill>
                  <a:schemeClr val="bg1"/>
                </a:solidFill>
              </a:rPr>
              <a:t>Indicator Support</a:t>
            </a:r>
          </a:p>
        </p:txBody>
      </p:sp>
      <p:sp>
        <p:nvSpPr>
          <p:cNvPr id="10" name="Freeform 11">
            <a:extLst>
              <a:ext uri="{FF2B5EF4-FFF2-40B4-BE49-F238E27FC236}">
                <a16:creationId xmlns:a16="http://schemas.microsoft.com/office/drawing/2014/main" id="{2B982904-A46E-41DF-BA98-61E2300C7D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179901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7018161-547E-48F7-A0D9-272C9EA5B3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5736" y="0"/>
            <a:ext cx="739626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6578" y="589722"/>
            <a:ext cx="6798033" cy="5321500"/>
          </a:xfrm>
        </p:spPr>
        <p:txBody>
          <a:bodyPr lIns="109728" tIns="91440" rIns="109728" bIns="91440" anchor="ctr"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400" b="0" i="0" dirty="0">
                <a:latin typeface="Calibri"/>
              </a:rPr>
              <a:t>Conditioning Indicators are converted to IF statements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400" dirty="0">
                <a:latin typeface="Calibri"/>
              </a:rPr>
              <a:t>Opcodes conditioned by indicators (columns 7–9) are wrapped in </a:t>
            </a:r>
            <a:r>
              <a:rPr lang="en-US" sz="2400" dirty="0">
                <a:latin typeface="Courier New"/>
              </a:rPr>
              <a:t>IF/ENDIF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400" b="0" i="0" dirty="0">
                <a:latin typeface="Calibri"/>
              </a:rPr>
              <a:t>Resulting Indicators (columns 71 to 76) are supported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400" dirty="0">
                <a:latin typeface="Calibri"/>
              </a:rPr>
              <a:t>Converted in context to an assignment, dependent on the </a:t>
            </a:r>
            <a:r>
              <a:rPr lang="en-US" sz="2400" dirty="0" err="1">
                <a:latin typeface="Calibri"/>
              </a:rPr>
              <a:t>OpCode</a:t>
            </a:r>
            <a:endParaRPr lang="en-US" sz="2400" b="0" i="0" dirty="0">
              <a:latin typeface="Calibri"/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sz="2400" b="0" i="0" dirty="0">
                <a:latin typeface="Calibri"/>
              </a:rPr>
              <a:t>Legacy conditional opcodes (</a:t>
            </a:r>
            <a:r>
              <a:rPr lang="en-US" sz="2400" b="0" i="0" dirty="0" err="1">
                <a:latin typeface="Courier New"/>
              </a:rPr>
              <a:t>IFxx</a:t>
            </a:r>
            <a:r>
              <a:rPr lang="en-US" sz="2400" b="0" i="0" dirty="0">
                <a:latin typeface="Calibri"/>
              </a:rPr>
              <a:t>, </a:t>
            </a:r>
            <a:r>
              <a:rPr lang="en-US" sz="2400" b="0" i="0" dirty="0" err="1">
                <a:latin typeface="Courier New"/>
              </a:rPr>
              <a:t>WHENxx</a:t>
            </a:r>
            <a:r>
              <a:rPr lang="en-US" sz="2400" b="0" i="0" dirty="0">
                <a:latin typeface="Calibri"/>
              </a:rPr>
              <a:t>, </a:t>
            </a:r>
            <a:r>
              <a:rPr lang="en-US" sz="2400" b="0" i="0" dirty="0" err="1">
                <a:latin typeface="Courier New"/>
              </a:rPr>
              <a:t>CASxx</a:t>
            </a:r>
            <a:r>
              <a:rPr lang="en-US" sz="2400" b="0" i="0" dirty="0">
                <a:latin typeface="Calibri"/>
              </a:rPr>
              <a:t>) that are conditioned by indicators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lang="en-US" sz="2400" dirty="0">
                <a:latin typeface="Calibri"/>
              </a:rPr>
              <a:t>Indicators </a:t>
            </a:r>
            <a:r>
              <a:rPr lang="en-US" sz="2400" b="0" i="0" dirty="0">
                <a:latin typeface="Calibri"/>
              </a:rPr>
              <a:t>are </a:t>
            </a:r>
            <a:r>
              <a:rPr lang="en-US" sz="2400" b="1" i="0" dirty="0">
                <a:latin typeface="Calibri"/>
              </a:rPr>
              <a:t>merged into the conditional statement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Key Opcode Conversions: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MOVE / MOVEL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EVAL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/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EVALR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with proper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%CHAR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%DEC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%EDITC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as needed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MOVEA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%SUBARR(*IN:n) = %LIST(...)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or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FOR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loop (configurable)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DO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FOR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loop with auto-generated counter variable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SUBST / SCAN / CAT / XLATE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%SUBST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%SCAN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%TRIM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%XLATE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BIFs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MHHZO / MHLZO / MLLZO / MLHZO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%BITxx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built-in functions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LOOKUP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%LOOKUPxx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/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%TLOOKUPxx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CASxx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IF / ELSEIF / ELSE / ENDIF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GOTO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(within subroutines targeting ENDSR label)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LEAVESR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TESTB / TESTZ / TESTN / BITON / BITOFF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free-format equivalents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Definition Spec (D-Spec)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Converts standalone fields, data structures, prototypes, and procedure interfaces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Handles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from/to column notation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CHAR(len) POS(n)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Detects parent context (DS subfield vs PR/PI parameter) to default type correctly: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DS subfields → Zoned decimal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PR/PI parameters → Packed decimal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PACKEVEN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keyword handled and removed (not valid in free format)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Binary (B) fields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configurable: always INT, auto (decimal=0), or BINDEC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INZ keyword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auto-added to data structures (configurable)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Long field name continuations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...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 properly resolved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File Spec (F-Spec)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Maps legacy device/usage combinations to modern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USAGE(*INPUT)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USAGE(*UPDATE:*DELETE)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etc.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External file keyword → optional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DISK(*EXT)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flag (configurable)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WORKSTN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combined I/O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CF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USAGE(*INPUT:*OUTPUT)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or plain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Keyed files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KEYED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keyword preserved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USROPN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RENAME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and other F-spec keywords carried through correctly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Embedded SQL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/EXEC SQL ... /END-EXEC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blocks in fixed-format style are reformatted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SQL keywords are properly recognized — host variable names that are also SQL keywords (e.g.,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FROM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TO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JOIN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 handled correctly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Maintains SQL indentation and structure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Directive &amp; Legacy Code Cleanup (Bonus)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/FREE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and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/END-FREE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automatically commented out (deprecated by IBM) </a:t>
            </a:r>
            <a:r>
              <a:rPr sz="1500" b="0" i="1">
                <a:solidFill>
                  <a:srgbClr val="666666"/>
                </a:solidFill>
                <a:latin typeface="Calibri"/>
              </a:rPr>
              <a:t>(configurable)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/COPY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/INCLUDE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 RPGLE files </a:t>
            </a:r>
            <a:r>
              <a:rPr sz="1500" b="0" i="1">
                <a:solidFill>
                  <a:srgbClr val="666666"/>
                </a:solidFill>
                <a:latin typeface="Calibri"/>
              </a:rPr>
              <a:t>(configurable per source type)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/EJECT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/SKIP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/SPACE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/TITLE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removed as legacy directives </a:t>
            </a:r>
            <a:r>
              <a:rPr sz="1500" b="0" i="1">
                <a:solidFill>
                  <a:srgbClr val="666666"/>
                </a:solidFill>
                <a:latin typeface="Calibri"/>
              </a:rPr>
              <a:t>(configurable)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RPG II-style column 1–5 sequence numbers / change codes → preserved as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//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comments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Column 81–100 inline comments → converted to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// ...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and placed above the statement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Smart RPG Tab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400"/>
              </a:spcBef>
            </a:pPr>
            <a:r>
              <a:rPr sz="1500" b="0" i="1">
                <a:solidFill>
                  <a:srgbClr val="666666"/>
                </a:solidFill>
                <a:latin typeface="Calibri"/>
              </a:rPr>
              <a:t>For fixed-format editing — not just conversion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TAB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/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Shift+TAB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moves the cursor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column-by-column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within the RPG IV specification layout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Non-destructive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existing code is never shifted or overwritten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Spec-aware: on a C-spec, tabs through Factor 1 → Opcode → Factor 2 → Result → Indicators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Works on H, F, D, C, P specs — each with their own column layout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Toggle on/off via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Status Bar button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(bottom-right of editor) or settings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Automatically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disabled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in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**FREE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(fully free) source files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Smart RPG Enter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400"/>
              </a:spcBef>
            </a:pPr>
            <a:r>
              <a:rPr sz="1500" b="0" i="1">
                <a:solidFill>
                  <a:srgbClr val="666666"/>
                </a:solidFill>
                <a:latin typeface="Calibri"/>
              </a:rPr>
              <a:t>For fixed-format editing — keep your lines intact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Pressing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Enter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does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not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break the current fixed-format line at the cursor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new line is inserted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below, pre-populated with the same spec type (e.g.,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on a C-spec line)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Cursor is positioned at the first non-blank column of the prior line — ready to type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Modes: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fixedOnly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(default),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fixedAndFree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*ALL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or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disable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Prevents accidental destruction of column-sensitive code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Compatible with GitHub Copilot suggestions (suggestion is accepted first, then Smart Enter fires)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Columnar Boundary Guides (Visual Rulers)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Vertical guidelines drawn at each RPG IV specification column boundary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The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current column area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(e.g., Opcode, Factor 2) is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highlighted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as you type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Works on all spec types: H, F, D, C, I, P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Can be enabled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independently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of Smart Tab/Enter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enableRPGColumnGuides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setting)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Configurable colors for light mode and dark mode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Cleared automatically when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**FREE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is detected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Tip: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Turn off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vscode-rpgle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Format Ruler via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Shift+F4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 cleanest display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Comment / Uncomment RPG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Right-click →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"Comment RPG IV Source Line"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/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"Uncomment RPG IV Source Line"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Fixed-format: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inserts/removes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*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at column 7, shifting content accordingly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Free-format: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prepends/removes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//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prefix while preserving indentation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Mixed-format files: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detects each line's format individually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Works on single lines or multi-line selections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Line-oriented — does not require selecting complete statements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Settings Quick-Access (Context Menu)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Right-click in any RPG editor →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"RPGIV2Free Settings"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opens extension settings directly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Right-click →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"Code for IBM i Settings"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opens Code for IBM i settings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Both are also available via the Command Palette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No more hunting through VS Code's settings tree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Key Configurable Settings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7315200"/>
            <a:ext cx="0" cy="9144"/>
          </a:xfrm>
        </p:spPr>
        <p:txBody>
          <a:bodyPr>
            <a:normAutofit fontScale="25000" lnSpcReduction="20000"/>
          </a:bodyPr>
          <a:lstStyle/>
          <a:p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4712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rightMargin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Max line width of converted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leftMargin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Indent for first converted line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convertBINTOINT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B-type fields → INT when decimals =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addINZ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Auto-add INZ to data structures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altMOVEL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Add %SUBST comment alternative for MOVEL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indyMOVEAStyle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MOVEA → FOR loop or %SUBARR/%LIST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RemoveFREEDirective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Comment out /free / /end-free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ReplaceCOPYwithINCLUDE_RPG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/copy → /include for RPGLE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tempVarName1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f2f_tempSTG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Work variable name for string opcodes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tempVarName2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f2f_tempDO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Counter variable name for DO→FOR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What's NOT Converted (Know the Limits)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Input (I) and Output (O) specs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converting these would be refactoring, not in scope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Level Break Indicators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RPG Cycle concepts not supported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Primary / Secondary file declarations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RPG Cycle file usage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Conditioning indicators on some edge cases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some manual review may be needed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GOTO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labels that are not ENDSR tags — not converted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When a conversion cannot be done, the line is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left untouched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always safe to undo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Integration: vscode-rpgle (Halcyon)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400"/>
              </a:spcBef>
            </a:pPr>
            <a:r>
              <a:rPr sz="1500" b="0" i="1">
                <a:solidFill>
                  <a:srgbClr val="666666"/>
                </a:solidFill>
                <a:latin typeface="Calibri"/>
              </a:rPr>
              <a:t>Works alongside RPGIV2FREE — complementary tools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Language server: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syntax highlighting, code completion (IntelliSense), hover documentation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Outline View: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navigate procedures, variables, and data structures in the file outline panel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Linter: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flags code quality issues, enforces style rules in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**FREE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format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Column Assist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Cmd+Shift+F4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): GUI helper for constructing fixed-format specs — useful for </a:t>
            </a:r>
            <a:r>
              <a:rPr sz="1500" b="0" i="1">
                <a:solidFill>
                  <a:srgbClr val="666666"/>
                </a:solidFill>
                <a:latin typeface="Calibri"/>
              </a:rPr>
              <a:t>reading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legacy code before converting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Format Ruler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Shift+F4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): toggle fixed-format column ruler (complement to RPGIV2FREE's columnar guides)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Move Left / Right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Ctrl+[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Ctrl+]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): shift content within fixed-format columns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Integration: Code for IBM i (Halcyon)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400"/>
              </a:spcBef>
            </a:pPr>
            <a:r>
              <a:rPr sz="1500" b="0" i="1">
                <a:solidFill>
                  <a:srgbClr val="666666"/>
                </a:solidFill>
                <a:latin typeface="Calibri"/>
              </a:rPr>
              <a:t>Connect VS Code directly to your IBM i system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Connect to IBM i: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Edit source members directly from IFS or QSYS library source files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Source Member browsing: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Navigate libraries → source files → members without leaving VS Code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Deploy workspace: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push local changes back to the system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Search source files: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grep across source members on the IBM i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Integrated terminal: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green-screen-style access via 5250 terminal or SSH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Variable/symbol database: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RPGIV2FREE uses this database for intelligent opcode conversions (e.g., SUBST, MOVE field types)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Typical Workflow (Putting It All Together)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1.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Connect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IBM i via Code for IBM i → open source member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2.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vscode-rpgle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provides syntax highlighting and IntelliSense as you read the code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3. Use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Columnar Guides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orient yourself in fixed-format code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4. Use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Smart Tab / Smart Enter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safely edit fixed-format lines if needed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5. Select lines (or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Ctrl+A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 all) → right-click →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Convert RPG IV to Free Format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6. Review results;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Ctrl+Z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undo any statement that didn't convert as expected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7.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Comment out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any lines not ready to convert yet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8. Save → re-compile → iterate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1. Install from VS Code Marketplace: search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"rpgiv2free"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or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"Bob Cozzi"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2. Also install: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halcyontechltd.vscode-rpgle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and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halcyontechltd.code-for-ibmi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3. Open any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.rpgle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or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.sqlrpgle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file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4. Right-click →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Convert RPG IV to Free Format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5. Configure settings at: right-click →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RPGIV2Free Settings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6. Report issues: [github.com/bobcozzi/rpgiv2free/issues](https://github.com/bobcozzi/rpgiv2free/issues)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Closing /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tIns="91440" rIns="109728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Bob Cozzi's RPGIV2FREE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Version 1.12.18 (Current)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MIT Licensed — Free to use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Active development — frequent releases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Community-driven issue tracking on GitHub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 b="0" i="1">
                <a:solidFill>
                  <a:srgbClr val="666666"/>
                </a:solidFill>
                <a:latin typeface="Calibri"/>
              </a:rPr>
              <a:t>*"The fastest path from fixed-format RPG IV to free-format — without breaking your code."*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2067</Words>
  <Application>Microsoft Macintosh PowerPoint</Application>
  <PresentationFormat>Widescreen</PresentationFormat>
  <Paragraphs>237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Century Gothic</vt:lpstr>
      <vt:lpstr>Courier New</vt:lpstr>
      <vt:lpstr>Wingdings 3</vt:lpstr>
      <vt:lpstr>Wisp</vt:lpstr>
      <vt:lpstr>RPG IV to Free</vt:lpstr>
      <vt:lpstr>RPG IV Fixed to Free Format Extension</vt:lpstr>
      <vt:lpstr>The Problem We're Solving</vt:lpstr>
      <vt:lpstr>What It Is (and What It Is Not)</vt:lpstr>
      <vt:lpstr>How It Works (The Core Feature)</vt:lpstr>
      <vt:lpstr>Supported Specification Types</vt:lpstr>
      <vt:lpstr>Multi-Line / Compound Statements</vt:lpstr>
      <vt:lpstr>CASxx Block – Best Practice</vt:lpstr>
      <vt:lpstr>Indicator Support</vt:lpstr>
      <vt:lpstr>Key Opcode Conversions: Highlights</vt:lpstr>
      <vt:lpstr>Definition Spec (D-Spec) Intelligence</vt:lpstr>
      <vt:lpstr>File Spec (F-Spec) Intelligence</vt:lpstr>
      <vt:lpstr>Embedded SQL Support</vt:lpstr>
      <vt:lpstr>Directive &amp; Legacy Code Cleanup (Bonus)</vt:lpstr>
      <vt:lpstr>Smart RPG Tab Key</vt:lpstr>
      <vt:lpstr>Smart RPG Enter Key</vt:lpstr>
      <vt:lpstr>Columnar Boundary Guides (Visual Rulers)</vt:lpstr>
      <vt:lpstr>Comment / Uncomment RPG Lines</vt:lpstr>
      <vt:lpstr>Settings Quick-Access (Context Menu)</vt:lpstr>
      <vt:lpstr>Key Configurable Settings</vt:lpstr>
      <vt:lpstr>What's NOT Converted (Know the Limits)</vt:lpstr>
      <vt:lpstr>Integration: vscode-rpgle (Halcyon)</vt:lpstr>
      <vt:lpstr>Integration: Code for IBM i (Halcyon)</vt:lpstr>
      <vt:lpstr>Typical Workflow (Putting It All Together)</vt:lpstr>
      <vt:lpstr>Getting Started</vt:lpstr>
      <vt:lpstr>Closing / 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VSCODE_RPG_PRESENTATION_v2</dc:title>
  <dc:creator>CozziResearch</dc:creator>
  <cp:lastModifiedBy>Bob Cozzi</cp:lastModifiedBy>
  <cp:revision>15</cp:revision>
  <dcterms:created xsi:type="dcterms:W3CDTF">2026-04-08T15:27:09Z</dcterms:created>
  <dcterms:modified xsi:type="dcterms:W3CDTF">2026-04-08T16:06:27Z</dcterms:modified>
</cp:coreProperties>
</file>