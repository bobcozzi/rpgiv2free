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>
          </p:cNvSpPr>
          <p:nvPr/>
        </p:nvSpPr>
        <p:spPr bwMode="auto">
          <a:xfrm>
            <a:off x="0" y="4323810"/>
            <a:ext cx="1744652" cy="778589"/>
          </a:xfrm>
          <a:custGeom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31781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491172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31781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>
          </p:cNvSpPr>
          <p:nvPr/>
        </p:nvSpPr>
        <p:spPr bwMode="auto">
          <a:xfrm flipV="1">
            <a:off x="-4189" y="31781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491172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>
          </p:cNvSpPr>
          <p:nvPr/>
        </p:nvSpPr>
        <p:spPr bwMode="auto">
          <a:xfrm flipV="1">
            <a:off x="-4189" y="491172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>
          </p:cNvSpPr>
          <p:nvPr/>
        </p:nvSpPr>
        <p:spPr bwMode="auto">
          <a:xfrm flipV="1">
            <a:off x="-4189" y="491172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>
          </p:cNvSpPr>
          <p:nvPr/>
        </p:nvSpPr>
        <p:spPr bwMode="auto">
          <a:xfrm flipV="1">
            <a:off x="-4189" y="714375"/>
            <a:ext cx="1588527" cy="507297"/>
          </a:xfrm>
          <a:custGeom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dirty="0"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>
            </p:cNvSpPr>
            <p:nvPr/>
          </p:nvSpPr>
          <p:spPr bwMode="auto">
            <a:xfrm>
              <a:off x="6627813" y="194833"/>
              <a:ext cx="409575" cy="3646488"/>
            </a:xfrm>
            <a:custGeom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1/1/2000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Bob Cozzi's RPG IV Fixed to Free Format Extension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Uses VS CODE for IBM i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Convert 1 or more statements to free format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Can do SELECT-ALL for all at once conversion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Context aware: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IFxx ORxx CASxx WHENxx compound statements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Data Structures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Procedure Parameter Lists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Subroutine's GOTO END-LABEL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The Problem We're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Legacy RPG IV fixed-format code is rigid, column-dependent, and hard to maintain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IBM deprecated fixed-format in favor of free-format (V7.3+,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**FREE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Free-format is more readable, modern, and IDE-friendly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Manually converting is tedious, error-prone, and time-consuming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RPGIV2FREE automates this — preserving exact logic semantics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What It Is (and What It Is Not)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It IS: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 statement-level fixed-to-free format converter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It IS: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 smart fixed-format editing assistant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It IS NOT: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 refactoring or modernization tool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It IS NOT: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 RPG Cycle converter (no level-break indicators, no I/O specs)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Works on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.sqlrpgle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.rpgleinc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files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Full undo support: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Cmd+Z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Ctrl+Z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reverts any 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How It Works (The Core Feature)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Select one line, multiple lines, or the entire file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"Convert RPG IV to Free Format"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The selected fixed-format statements are replaced in-place with free-format equivalents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Operates at the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statement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level — multi-line statements are handled as a unit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Available in the right-click context menu as the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first option listed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Demo opportunity: single line → select all → undo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Supported Specification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15200"/>
            <a:ext cx="0" cy="9144"/>
          </a:xfrm>
        </p:spPr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47120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Fixed-Format Example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Free-Format Output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 (Header)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H DFTACTGRP(*NO)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CTL-OPT DFTACTGRP(*NO);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 (File)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 CUSTMAST IF E K DISK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DCL-F CUSTMAST DISK(EXT) USAGE(INPUT) KEYED;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 (Definition)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 myVar S 10A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DCL-S myVar CHAR(10);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 (Calculation)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 EVAL result = a + b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result = a + b;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 (Procedure)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P myProc 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DCL-PROC myProc;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/EXEC SQL blocks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Reformatted free-style SQL embed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Multi-Line &amp; Compound Statement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 single RPG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statement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can span many physical lines (e.g., long D-spec keyword lists, compound IF/ELSEIF blocks)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Place cursor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anywhere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on the statement → right-click → converts the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entire statement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automatically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Supports compound opcodes: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IFxx/ANDxx/ORxx/WHENxx/CASxx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proper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IF/ELSEIF/ELSE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chains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CASxx best practice: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Select the entire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CASxx...ENDCS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block for correct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IF/ELSEIF/ELSE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Conditioning Indicators — Fully Supported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3392424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Resulting indicators (columns 54–59) are converted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Opcodes conditioned by indicators (columns 7–9) are wrapped in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IF/ENDIF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For legacy conditional opcodes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WHENxx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CASxx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), indicators are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merged into the condition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92624"/>
            <a:ext cx="11247120" cy="498348"/>
          </a:xfrm>
          <a:prstGeom prst="rect">
            <a:avLst/>
          </a:prstGeom>
          <a:solidFill>
            <a:srgbClr val="1E1E1E"/>
          </a:solidFill>
        </p:spPr>
        <p:txBody>
          <a:bodyPr wrap="none" lIns="146304" rIns="109728" tIns="128016" bIns="109728">
            <a:spAutoFit/>
          </a:bodyPr>
          <a:lstStyle/>
          <a:p>
            <a:r>
              <a:rPr sz="1000" b="0">
                <a:solidFill>
                  <a:srgbClr val="D4D4D4"/>
                </a:solidFill>
                <a:latin typeface="Letter Gothic MT"/>
              </a:rPr>
              <a:t>C  30        IFGT      0          -- Indicator 30 conditioning the 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1898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1A1A2E"/>
                </a:solidFill>
                <a:latin typeface="Calibri"/>
              </a:rPr>
              <a:t>Becomes: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03036"/>
            <a:ext cx="11247120" cy="498348"/>
          </a:xfrm>
          <a:prstGeom prst="rect">
            <a:avLst/>
          </a:prstGeom>
          <a:solidFill>
            <a:srgbClr val="1E1E1E"/>
          </a:solidFill>
        </p:spPr>
        <p:txBody>
          <a:bodyPr wrap="none" lIns="146304" rIns="109728" tIns="128016" bIns="109728">
            <a:spAutoFit/>
          </a:bodyPr>
          <a:lstStyle/>
          <a:p>
            <a:r>
              <a:rPr sz="1000" b="0">
                <a:solidFill>
                  <a:srgbClr val="D4D4D4"/>
                </a:solidFill>
                <a:latin typeface="Letter Gothic MT"/>
              </a:rPr>
              <a:t>if *in30 and ScanPos &gt; 0;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Key Opcode Conversions: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MOVE / MOVEL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EVAL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EVALR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with proper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%CHAR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%DEC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%EDITC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as needed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MOVEA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%SUBARR(*IN:n) = %LIST(...)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FOR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loop 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DO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FOR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loop with auto-generated counter variable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SUBST / SCAN / CAT / XLATE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%SUBST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%SCAN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%TRIM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%XLATE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BIFs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MHHZO / MHLZO / MLLZO / MLHZO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%BITxx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built-in functions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LOOKUP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%LOOKUPxx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%TLOOKUPxx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CASxx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IF / ELSEIF / ELSE / ENDIF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GOTO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(within subroutines targeting ENDSR label)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LEAVESR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TESTB / TESTZ / TESTN / BITON / BITOFF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free-format equivalents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Definition Spec (D-Spec)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Converts standalone fields, data structures, prototypes, and procedure interfaces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Handles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from/to column notation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CHAR(len) POS(n)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Detects parent context (DS subfield vs PR/PI parameter) to default type correctly: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DS subfields → Zoned decimal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PR/PI parameters → Packed decimal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PACKEVEN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keyword handled and removed (not valid in free format)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Binary (B) fields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configurable: always INT, auto (decimal=0), or BINDEC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INZ keyword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auto-added to data structures 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Long field name continuations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...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 properly resolved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File Spec (F-Spec)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Maps legacy device/usage combinations to modern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USAGE(*INPUT)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USAGE(*UPDATE:*DELETE)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etc.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External file keyword → optional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DISK(*EXT)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flag 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WORKSTN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combined I/O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CF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USAGE(*INPUT:*OUTPUT)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or plain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Keyed files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KEYED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keyword preserved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USROPN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RENAME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and other F-spec keywords carried through correctly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Embedded SQL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/EXEC SQL ... /END-EXEC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blocks in fixed-format style are reformatted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SQL keywords are properly recognized — host variable names that are also SQL keywords (e.g.,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FROM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TO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JOIN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 handled correctly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Maintains SQL indentation and structure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Directive &amp; Legacy Code Cleanup (Bonus)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/FREE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and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/END-FREE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automatically commented out (deprecated by IBM)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/COPY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/INCLUDE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 RPGLE files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(configurable per source type)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/EJECT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/SKIP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/SPACE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/TITLE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removed as legacy directives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(configurable)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RPG II-style column 1–5 sequence numbers / change codes → preserved as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//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comments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Column 81–100 inline comments → converted to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// ...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and placed above the statement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Smart RPG Tab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400"/>
              </a:spcBef>
            </a:pPr>
            <a:r>
              <a:rPr sz="1500" b="0" i="1">
                <a:solidFill>
                  <a:srgbClr val="666666"/>
                </a:solidFill>
                <a:latin typeface="Calibri"/>
              </a:rPr>
              <a:t>For fixed-format editing — not just conversion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 b="0" i="0">
                <a:solidFill>
                  <a:srgbClr val="B5204F"/>
                </a:solidFill>
                <a:latin typeface="Courier New"/>
              </a:rPr>
              <a:t>TAB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Shift+TAB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moves the cursor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column-by-column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within the RPG IV specification layout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Non-destructive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existing code is never shifted or overwritten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Spec-aware: on a C-spec, tabs through Factor 1 → Opcode → Factor 2 → Result → Indicators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Works on H, F, D, C, P specs — each with their own column layout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Toggle on/off via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Status Bar button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(bottom-right of editor) or settings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Automatically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disabled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in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**FREE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(fully free) source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Smart RPG Enter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400"/>
              </a:spcBef>
            </a:pPr>
            <a:r>
              <a:rPr sz="1500" b="0" i="1">
                <a:solidFill>
                  <a:srgbClr val="666666"/>
                </a:solidFill>
                <a:latin typeface="Calibri"/>
              </a:rPr>
              <a:t>For fixed-format editing — keep your lines intact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Pressing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Enter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does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not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break the current fixed-format line at the cursor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new line is inserted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below, pre-populated with the same spec type (e.g.,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on a C-spec line)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Cursor is positioned at the first non-blank column of the prior line — ready to type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Modes: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fixedOnly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(default),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fixedAndFree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*ALL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disable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Prevents accidental destruction of column-sensitive code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Compatible with GitHub Copilot suggestions (suggestion is accepted first, then Smart Enter fires)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Columnar Boundary Guides (Visual Rulers)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Vertical guidelines drawn at each RPG IV specification column boundary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The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current column area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(e.g., Opcode, Factor 2) is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highlighted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as you type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Works on all spec types: H, F, D, C, I, P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Can be enabled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independently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of Smart Tab/Enter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enableRPGColumnGuides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setting)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Configurable colors for light mode and dark mode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Cleared automatically when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**FREE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is detected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1">
                <a:solidFill>
                  <a:srgbClr val="666666"/>
                </a:solidFill>
                <a:latin typeface="Calibri"/>
              </a:rPr>
              <a:t>Tip: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Turn off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vscode-rpgle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Format Ruler via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Shift+F4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 cleanest display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Comment / Uncomment RPG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"Comment RPG IV Source Line"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/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"Uncomment RPG IV Source Line"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Fixed-format: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inserts/removes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at column 7, shifting content accordingly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Free-format: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prepends/removes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//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prefix while preserving indentation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Mixed-format files: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detects each line's format individually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Works on single lines or multi-line selections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Line-oriented — does not require selecting complete statements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Settings Quick-Access (Context Menu)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Right-click in any RPG editor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"RPGIV2Free Settings"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opens extension settings directly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"Code for IBM i Settings"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→ opens Code for IBM i settings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Both are also available via the Command Palette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No more hunting through VS Code's settings tree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Key Configurable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315200"/>
            <a:ext cx="0" cy="9144"/>
          </a:xfrm>
        </p:spPr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47120" cy="44256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rightMargin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76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Max line width of converted output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leftMargin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Indent for first converted line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convertBINTOINT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auto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B-type fields → INT when decimals = 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addINZ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Auto-add INZ to data structures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altMOVEL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Add %SUBST comment alternative for MOVEL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indyMOVEAStyle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MOVEA → FOR loop or %SUBARR/%LIST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RemoveFREEDirective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Comment out /free / /end-free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ReplaceCOPYwithINCLUDE_RPG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/copy → /include for RPGLE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tempVarName1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f2f_tempSTG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Work variable name for string opcodes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tempVarName2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f2f_tempDO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Calibri"/>
                        </a:rPr>
                        <a:t>Counter variable name for DO→FOR</a:t>
                      </a:r>
                    </a:p>
                  </a:txBody>
                  <a:tcPr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What's NOT Converted (Know the Limits)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Input (I) and Output (O) specs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converting these would be refactoring, not in scope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Level Break Indicators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RPG Cycle concepts not supported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Primary / Secondary file declarations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RPG Cycle file usage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Conditioning indicators on some edge cases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some manual review may be needed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GOTO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labels that are not ENDSR tags — not converted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When a conversion cannot be done, the line is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left untouched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always safe to undo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Integration: vscode-rpgle (Halcyon)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400"/>
              </a:spcBef>
            </a:pPr>
            <a:r>
              <a:rPr sz="1500" b="0" i="1">
                <a:solidFill>
                  <a:srgbClr val="666666"/>
                </a:solidFill>
                <a:latin typeface="Calibri"/>
              </a:rPr>
              <a:t>Works alongside RPGIV2FREE — complementary tools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Language server: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syntax highlighting, code completion (IntelliSense), hover documentation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Outline View: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navigate procedures, variables, and data structures in the file outline panel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Linter: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flags code quality issues, enforces style rules in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**FREE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format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Column Assist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Cmd+Shift+F4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): GUI helper for constructing fixed-format specs — useful for </a:t>
            </a:r>
            <a:r>
              <a:rPr sz="1500" b="0" i="1">
                <a:solidFill>
                  <a:srgbClr val="666666"/>
                </a:solidFill>
                <a:latin typeface="Calibri"/>
              </a:rPr>
              <a:t>reading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legacy code before converting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Format Ruler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Shift+F4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): toggle fixed-format column ruler (complement to RPGIV2FREE's columnar guides)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Move Left / Right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(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Ctrl+[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,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Ctrl+]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): shift content within fixed-format columns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Integration: Code for IBM i (Halcyon)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400"/>
              </a:spcBef>
            </a:pPr>
            <a:r>
              <a:rPr sz="1500" b="0" i="1">
                <a:solidFill>
                  <a:srgbClr val="666666"/>
                </a:solidFill>
                <a:latin typeface="Calibri"/>
              </a:rPr>
              <a:t>Connect VS Code directly to your IBM i system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Connect to IBM i: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Edit source members directly from IFS or QSYS library source files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Source Member browsing: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Navigate libraries → source files → members without leaving VS Code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Deploy workspace: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push local changes back to the system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Search source files: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grep across source members on the IBM i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Integrated terminal: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green-screen-style access via 5250 terminal or SSH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Variable/symbol database: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RPGIV2FREE uses this database for intelligent opcode conversions (e.g., SUBST, MOVE field types)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Typical Workflow (Putting It All Together)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1.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Connect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IBM i via Code for IBM i → open source member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2.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vscode-rpgle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provides syntax highlighting and IntelliSense as you read the code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3. Use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Columnar Guides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orient yourself in fixed-format code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4. Use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Smart Tab / Smart Enter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safely edit fixed-format lines if needed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5. Select lines (or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Ctrl+A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for all) → 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Convert RPG IV to Free Format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6. Review results;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Ctrl+Z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to undo any statement that didn't convert as expected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7.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Comment out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any lines not ready to convert yet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8. Save → re-compile → iterate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1. Install from VS Code Marketplace: search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"rpgiv2free"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or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"Bob Cozzi"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2. Also install: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halcyontechltd.vscode-rpgle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and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halcyontechltd.code-for-ibmi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3. Open any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or </a:t>
            </a:r>
            <a:r>
              <a:rPr sz="1300" b="0" i="0">
                <a:solidFill>
                  <a:srgbClr val="B5204F"/>
                </a:solidFill>
                <a:latin typeface="Courier New"/>
              </a:rPr>
              <a:t>.sqlrpgle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file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4. 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Convert RPG IV to Free Format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5. Configure settings at: right-click → </a:t>
            </a:r>
            <a:r>
              <a:rPr sz="1500" b="1" i="0">
                <a:solidFill>
                  <a:srgbClr val="1F497D"/>
                </a:solidFill>
                <a:latin typeface="Calibri"/>
              </a:rPr>
              <a:t>RPGIV2Free Settings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6. Report issues: [github.com/bobcozzi/rpgiv2free/issues](https://github.com/bobcozzi/rpgiv2free/issues)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t>Closing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8760"/>
            <a:ext cx="11247120" cy="5029200"/>
          </a:xfrm>
        </p:spPr>
        <p:txBody>
          <a:bodyPr wrap="square" lIns="109728" rIns="109728" tIns="91440" bIns="91440"/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500" b="1" i="0">
                <a:solidFill>
                  <a:srgbClr val="1F497D"/>
                </a:solidFill>
                <a:latin typeface="Calibri"/>
              </a:rPr>
              <a:t>Bob Cozzi's RPGIV2FREE</a:t>
            </a:r>
            <a:r>
              <a:rPr sz="1500" b="0" i="0">
                <a:solidFill>
                  <a:srgbClr val="1A1A2E"/>
                </a:solidFill>
                <a:latin typeface="Calibri"/>
              </a:rPr>
              <a:t> — Version 1.12.18 (Current)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MIT Licensed — Free to use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Active development — frequent releases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Community-driven issue tracking on GitHub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*"The fastest path from fixed-format RPG IV to free-format — without breaking your code."*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