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lang="en-US" dirty="0"/>
              <a:t>IBM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dirty="0"/>
              <a:t>CL Tools </a:t>
            </a:r>
            <a:r>
              <a:rPr lang="en-US" dirty="0"/>
              <a:t>Support in</a:t>
            </a:r>
            <a:r>
              <a:rPr dirty="0"/>
              <a:t>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From IBM — A full-featured language extension for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Control Language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Works with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Code for IBM 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(by Halcyon Software)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Supports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,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bnd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, and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cmd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source types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Brings IntelliSense-style features to CL development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Available free on the VS Code Marketplace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What is CL?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CL (Control Language)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is the command language of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(AS/400)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Used for: job control, submitting jobs, working with objects, running programs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Compiled into CL programs (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.CLLE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) or used in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.CMD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objects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CL still powers thousands of production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systems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Historically edited on 5250 green-screen or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RDi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now VS Code!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What the IBM CLLE Extension Provides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Syntax Highlighting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proper colorization for CL keywords and values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Outline View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file structure at a glance in the Explorer panel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Content Assist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auto-complete for CL commands and parameters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Go to / Peek Definition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navigate to where variables and labels are defined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Find All References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see every usage of a variable or label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Hover Documentation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view IBM command docs without leaving the editor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Syntax Checking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validate CL syntax against the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dirty="0"/>
              <a:t>Activated File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119191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dirty="0">
                <a:solidFill>
                  <a:srgbClr val="1A1A2E"/>
                </a:solidFill>
                <a:latin typeface="Calibri"/>
              </a:rPr>
              <a:t>IBM-CLLE </a:t>
            </a:r>
            <a:r>
              <a:rPr lang="en-US" b="0" i="0" dirty="0">
                <a:solidFill>
                  <a:srgbClr val="1A1A2E"/>
                </a:solidFill>
                <a:latin typeface="Calibri"/>
              </a:rPr>
              <a:t>and </a:t>
            </a:r>
            <a:r>
              <a:rPr lang="en-US" dirty="0">
                <a:solidFill>
                  <a:srgbClr val="1A1A2E"/>
                </a:solidFill>
                <a:latin typeface="Calibri"/>
              </a:rPr>
              <a:t>My CLPROMPTER extensions </a:t>
            </a:r>
            <a:r>
              <a:rPr b="0" i="0" dirty="0">
                <a:solidFill>
                  <a:srgbClr val="1A1A2E"/>
                </a:solidFill>
                <a:latin typeface="Calibri"/>
              </a:rPr>
              <a:t>activate</a:t>
            </a:r>
            <a:r>
              <a:rPr lang="en-US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b="0" i="0" dirty="0">
                <a:solidFill>
                  <a:srgbClr val="1A1A2E"/>
                </a:solidFill>
                <a:latin typeface="Calibri"/>
              </a:rPr>
              <a:t>automatically </a:t>
            </a:r>
            <a:r>
              <a:rPr lang="en-US" b="0" i="0" dirty="0">
                <a:solidFill>
                  <a:srgbClr val="1A1A2E"/>
                </a:solidFill>
                <a:latin typeface="Calibri"/>
              </a:rPr>
              <a:t>(when installed) </a:t>
            </a:r>
            <a:r>
              <a:rPr b="0" i="0" dirty="0">
                <a:solidFill>
                  <a:srgbClr val="1A1A2E"/>
                </a:solidFill>
                <a:latin typeface="Calibri"/>
              </a:rPr>
              <a:t>for these source types: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09237"/>
              </p:ext>
            </p:extLst>
          </p:nvPr>
        </p:nvGraphicFramePr>
        <p:xfrm>
          <a:off x="1871330" y="2294739"/>
          <a:ext cx="7549116" cy="258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4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File Extension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</a:rPr>
                        <a:t>CL Type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31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Calibri"/>
                        </a:rPr>
                        <a:t>.cl or .clle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Calibri"/>
                        </a:rPr>
                        <a:t>CL Program source (CLLE)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19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Calibri"/>
                        </a:rPr>
                        <a:t>.bnd</a:t>
                      </a:r>
                    </a:p>
                  </a:txBody>
                  <a:tcPr anchor="ctr"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Calibri"/>
                        </a:rPr>
                        <a:t>Service Program binder source</a:t>
                      </a:r>
                    </a:p>
                  </a:txBody>
                  <a:tcPr anchor="ctr"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19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A1A2E"/>
                          </a:solidFill>
                          <a:latin typeface="Calibri"/>
                        </a:rPr>
                        <a:t>.cmd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A1A2E"/>
                          </a:solidFill>
                          <a:latin typeface="Calibri"/>
                        </a:rPr>
                        <a:t>Command definition 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1330" y="6245352"/>
            <a:ext cx="8644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1A1A2E"/>
                </a:solidFill>
                <a:latin typeface="Calibri"/>
              </a:rPr>
              <a:t>All three types share the same language intelligence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Outline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The VS Code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Outline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panel shows your CL program's structure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Provides a navigable tree of: subroutines, labels, declared variables, files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Works with the standard VS Code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Breadcrumb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navigation bar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Click any item in the outline to jump directly to that line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Great for large CL programs with many subroutines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Content Assist: Command Completion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Press 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Ctrl+Space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to trigger auto-complete anywhere in a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file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Suggests valid CL command names as you type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Parameter completion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after typing a command name, suggests its supported keywords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Keyword descriptions come from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command definitions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Requires a live connection via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Code for IBM 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for full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command catalog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Go To Definition &amp; Find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Go to Definition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(F12 or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Ctrl+Click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Jump to where a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DCL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variable,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DCLF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file, or subroutine label is declared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Works across the current source file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Find All References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(Shift+F12):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Locate every place a variable, label, or file name is used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Results appear in the VS Code References panel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Peek Definition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(Alt+F12):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View the declaration inline without leaving your current position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Hover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Hover your cursor over a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CL command name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to see its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Hover over a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parameter keyword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to see its valid values and description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Documentation is fetched live from the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system via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Code for IBM 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i</a:t>
            </a:r>
            <a:endParaRPr sz="2400" b="1" i="0" dirty="0">
              <a:solidFill>
                <a:srgbClr val="1F497D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The </a:t>
            </a:r>
            <a:r>
              <a:rPr sz="2400" b="0" i="0" dirty="0" err="1">
                <a:solidFill>
                  <a:srgbClr val="B5204F"/>
                </a:solidFill>
                <a:latin typeface="Courier New"/>
              </a:rPr>
              <a:t>vscode-clle.general.displayCommandDocumentation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setting must be enabled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Requires an active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connection — shows nothing if offline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Syntax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Run the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"Check CL Syntax"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command: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Validates the current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.cl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source against the connected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Errors appear in the VS Code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Problems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panel with line and column numbers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Accessible from the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Command Palette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: </a:t>
            </a:r>
            <a:r>
              <a:rPr sz="2400" b="0" i="0" dirty="0">
                <a:solidFill>
                  <a:srgbClr val="B5204F"/>
                </a:solidFill>
                <a:latin typeface="Courier New"/>
              </a:rPr>
              <a:t>CL: Check CL Syntax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Also available via the editor toolbar (title bar icon)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Requires an active Code for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Run Selected CL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Select one or more CL statements in the editor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Run command: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"Run selected CL command"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Submits the selected command(s) to the connected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for execution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Output appears in the VS Code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Output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or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Terminal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panel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Useful for quick ad-hoc testing without creating a full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Code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128016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Type a keyword and press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Tab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to expand a full CL snippet: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63810"/>
              </p:ext>
            </p:extLst>
          </p:nvPr>
        </p:nvGraphicFramePr>
        <p:xfrm>
          <a:off x="457200" y="2258569"/>
          <a:ext cx="1124712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5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Trigger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inserts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PGM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Full program start/end boilerplate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DCL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Declare CL variable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DCLF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Declare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MONMSG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Monitor message handler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SELECT / WHEN / OTHERWISE block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SUBR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Subroutine start and end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SBMJOB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Submit Job skeleton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1A1A2E"/>
                          </a:solidFill>
                          <a:latin typeface="Calibri"/>
                        </a:rPr>
                        <a:t>CHGVAR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dirty="0">
                          <a:solidFill>
                            <a:srgbClr val="1A1A2E"/>
                          </a:solidFill>
                          <a:latin typeface="Calibri"/>
                        </a:rPr>
                        <a:t>Change Variable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Integration with Code for IBM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IBM CLLE is designed to work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alongside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Code for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endParaRPr sz="24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Code for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provides the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connection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and object browser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CLLE extension uses that connection for: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Live command documentation on hover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Syntax checking against the real system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Running selected commands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Without a connection, syntax highlighting, outline, and snippets still 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One key setting: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`</a:t>
            </a:r>
            <a:r>
              <a:rPr sz="2400" b="1" i="0" dirty="0" err="1">
                <a:solidFill>
                  <a:srgbClr val="1F497D"/>
                </a:solidFill>
                <a:latin typeface="Calibri"/>
              </a:rPr>
              <a:t>vscode-clle.general.displayCommandDocumentation</a:t>
            </a:r>
            <a:r>
              <a:rPr sz="2400" b="1" i="0" dirty="0">
                <a:solidFill>
                  <a:srgbClr val="1F497D"/>
                </a:solidFill>
                <a:latin typeface="Calibri"/>
              </a:rPr>
              <a:t>`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1" dirty="0">
                <a:solidFill>
                  <a:srgbClr val="666666"/>
                </a:solidFill>
                <a:latin typeface="Calibri"/>
              </a:rPr>
              <a:t>Default: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enabled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When on, hover tooltips fetch live IBM </a:t>
            </a:r>
            <a:r>
              <a:rPr sz="2400" b="0" i="0" dirty="0" err="1">
                <a:solidFill>
                  <a:srgbClr val="1A1A2E"/>
                </a:solidFill>
                <a:latin typeface="Calibri"/>
              </a:rPr>
              <a:t>i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CL command docs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Disable if you want to suppress hover documentation fetching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Configured in VS Code Settings (Ctrl+,) under "CL" or "CLLE"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928" y="1508760"/>
            <a:ext cx="10323095" cy="4398745"/>
          </a:xfrm>
        </p:spPr>
        <p:txBody>
          <a:bodyPr wrap="square" lIns="109728" tIns="91440" rIns="109728" bIns="91440">
            <a:norm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IBM CLLE transforms VS Code into a first-class CL IDE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Outline View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navigate your CL program structure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IntelliSense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command and parameter completion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Go to Definition / Find References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code navigation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Hover docs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IBM command documentation inline</a:t>
            </a:r>
            <a:r>
              <a:rPr lang="en-US" sz="2400" b="0" i="0" dirty="0">
                <a:solidFill>
                  <a:srgbClr val="1A1A2E"/>
                </a:solidFill>
                <a:latin typeface="Calibri"/>
              </a:rPr>
              <a:t>*</a:t>
            </a:r>
            <a:endParaRPr sz="2400" b="0" i="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Syntax check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catch errors before compile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Run selection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test CL commands interactively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1" i="0" dirty="0">
                <a:solidFill>
                  <a:srgbClr val="1F497D"/>
                </a:solidFill>
                <a:latin typeface="Calibri"/>
              </a:rPr>
              <a:t>Snippets</a:t>
            </a:r>
            <a:r>
              <a:rPr sz="2400" b="0" i="0" dirty="0">
                <a:solidFill>
                  <a:srgbClr val="1A1A2E"/>
                </a:solidFill>
                <a:latin typeface="Calibri"/>
              </a:rPr>
              <a:t> — common CL boilerplate at your fingertips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2400" b="0" i="0" dirty="0">
                <a:solidFill>
                  <a:srgbClr val="1A1A2E"/>
                </a:solidFill>
                <a:latin typeface="Calibri"/>
              </a:rPr>
              <a:t>Free, open source, from IBM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22905-374F-2705-2F08-6E512ACBCF5E}"/>
              </a:ext>
            </a:extLst>
          </p:cNvPr>
          <p:cNvSpPr txBox="1"/>
          <p:nvPr/>
        </p:nvSpPr>
        <p:spPr>
          <a:xfrm>
            <a:off x="2592925" y="5907505"/>
            <a:ext cx="7555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The actual command </a:t>
            </a:r>
            <a:r>
              <a:rPr lang="en-US" dirty="0" err="1"/>
              <a:t>Helptext</a:t>
            </a:r>
            <a:r>
              <a:rPr lang="en-US" dirty="0"/>
              <a:t> from the IBM </a:t>
            </a:r>
            <a:r>
              <a:rPr lang="en-US" dirty="0" err="1"/>
              <a:t>i</a:t>
            </a:r>
            <a:r>
              <a:rPr lang="en-US" dirty="0"/>
              <a:t> host is retrieved and presented. Similar to pressing F1 during a command Prompt.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913</Words>
  <Application>Microsoft Macintosh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Courier New</vt:lpstr>
      <vt:lpstr>Wingdings 3</vt:lpstr>
      <vt:lpstr>Wisp</vt:lpstr>
      <vt:lpstr>IBM i CL Tools Support in VS Code</vt:lpstr>
      <vt:lpstr>What is CL?</vt:lpstr>
      <vt:lpstr>What the IBM CLLE Extension Provides</vt:lpstr>
      <vt:lpstr>Activated File Types</vt:lpstr>
      <vt:lpstr>Outline View</vt:lpstr>
      <vt:lpstr>Content Assist: Command Completion</vt:lpstr>
      <vt:lpstr>Go To Definition &amp; Find References</vt:lpstr>
      <vt:lpstr>Hover Documentation</vt:lpstr>
      <vt:lpstr>Syntax Checking</vt:lpstr>
      <vt:lpstr>Run Selected CL Command</vt:lpstr>
      <vt:lpstr>Code Snippets</vt:lpstr>
      <vt:lpstr>Integration with Code for IBM i</vt:lpstr>
      <vt:lpstr>Configuration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Bob Cozzi</cp:lastModifiedBy>
  <cp:revision>3</cp:revision>
  <dcterms:modified xsi:type="dcterms:W3CDTF">2026-04-02T19:45:52Z</dcterms:modified>
</cp:coreProperties>
</file>