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>
          </p:cNvSpPr>
          <p:nvPr/>
        </p:nvSpPr>
        <p:spPr bwMode="auto">
          <a:xfrm>
            <a:off x="0" y="4323810"/>
            <a:ext cx="1744652" cy="778589"/>
          </a:xfrm>
          <a:custGeom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31781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31781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>
          </p:cNvSpPr>
          <p:nvPr/>
        </p:nvSpPr>
        <p:spPr bwMode="auto">
          <a:xfrm flipV="1">
            <a:off x="-4189" y="31781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>
          </p:cNvSpPr>
          <p:nvPr/>
        </p:nvSpPr>
        <p:spPr bwMode="auto">
          <a:xfrm flipV="1">
            <a:off x="-4189" y="491172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>
          </p:cNvSpPr>
          <p:nvPr/>
        </p:nvSpPr>
        <p:spPr bwMode="auto">
          <a:xfrm flipV="1">
            <a:off x="-4189" y="714375"/>
            <a:ext cx="1588527" cy="507297"/>
          </a:xfrm>
          <a:custGeom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dirty="0"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>
            </p:cNvSpPr>
            <p:nvPr/>
          </p:nvSpPr>
          <p:spPr bwMode="auto">
            <a:xfrm>
              <a:off x="2487613" y="2284413"/>
              <a:ext cx="85725" cy="533400"/>
            </a:xfrm>
            <a:custGeom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>
            </p:cNvSpPr>
            <p:nvPr/>
          </p:nvSpPr>
          <p:spPr bwMode="auto">
            <a:xfrm>
              <a:off x="2597151" y="2779713"/>
              <a:ext cx="550863" cy="1978025"/>
            </a:xfrm>
            <a:custGeom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>
            </p:cNvSpPr>
            <p:nvPr/>
          </p:nvSpPr>
          <p:spPr bwMode="auto">
            <a:xfrm>
              <a:off x="3175001" y="4730750"/>
              <a:ext cx="519113" cy="1209675"/>
            </a:xfrm>
            <a:custGeom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>
            </p:cNvSpPr>
            <p:nvPr/>
          </p:nvSpPr>
          <p:spPr bwMode="auto">
            <a:xfrm>
              <a:off x="3305176" y="5630863"/>
              <a:ext cx="146050" cy="309563"/>
            </a:xfrm>
            <a:custGeom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>
            </p:cNvSpPr>
            <p:nvPr/>
          </p:nvSpPr>
          <p:spPr bwMode="auto">
            <a:xfrm>
              <a:off x="2573338" y="2817813"/>
              <a:ext cx="700088" cy="2835275"/>
            </a:xfrm>
            <a:custGeom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>
            </p:cNvSpPr>
            <p:nvPr/>
          </p:nvSpPr>
          <p:spPr bwMode="auto">
            <a:xfrm>
              <a:off x="2506663" y="285750"/>
              <a:ext cx="90488" cy="2493963"/>
            </a:xfrm>
            <a:custGeom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>
            </p:cNvSpPr>
            <p:nvPr/>
          </p:nvSpPr>
          <p:spPr bwMode="auto">
            <a:xfrm>
              <a:off x="2554288" y="2598738"/>
              <a:ext cx="66675" cy="420688"/>
            </a:xfrm>
            <a:custGeom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>
            </p:cNvSpPr>
            <p:nvPr/>
          </p:nvSpPr>
          <p:spPr bwMode="auto">
            <a:xfrm>
              <a:off x="3143251" y="4757738"/>
              <a:ext cx="161925" cy="873125"/>
            </a:xfrm>
            <a:custGeom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>
            </p:cNvSpPr>
            <p:nvPr/>
          </p:nvSpPr>
          <p:spPr bwMode="auto">
            <a:xfrm>
              <a:off x="3148013" y="1282700"/>
              <a:ext cx="1768475" cy="3448050"/>
            </a:xfrm>
            <a:custGeom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>
            </p:cNvSpPr>
            <p:nvPr/>
          </p:nvSpPr>
          <p:spPr bwMode="auto">
            <a:xfrm>
              <a:off x="3273426" y="5653088"/>
              <a:ext cx="138113" cy="287338"/>
            </a:xfrm>
            <a:custGeom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>
            </p:cNvSpPr>
            <p:nvPr/>
          </p:nvSpPr>
          <p:spPr bwMode="auto">
            <a:xfrm>
              <a:off x="3143251" y="4656138"/>
              <a:ext cx="31750" cy="188913"/>
            </a:xfrm>
            <a:custGeom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>
            </p:cNvSpPr>
            <p:nvPr/>
          </p:nvSpPr>
          <p:spPr bwMode="auto">
            <a:xfrm>
              <a:off x="3211513" y="5410200"/>
              <a:ext cx="203200" cy="530225"/>
            </a:xfrm>
            <a:custGeom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>
            </p:cNvSpPr>
            <p:nvPr/>
          </p:nvSpPr>
          <p:spPr bwMode="auto">
            <a:xfrm>
              <a:off x="6627813" y="194833"/>
              <a:ext cx="409575" cy="3646488"/>
            </a:xfrm>
            <a:custGeom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>
            </p:cNvSpPr>
            <p:nvPr/>
          </p:nvSpPr>
          <p:spPr bwMode="auto">
            <a:xfrm>
              <a:off x="7061201" y="3771900"/>
              <a:ext cx="350838" cy="1309688"/>
            </a:xfrm>
            <a:custGeom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>
            </p:cNvSpPr>
            <p:nvPr/>
          </p:nvSpPr>
          <p:spPr bwMode="auto">
            <a:xfrm>
              <a:off x="7439026" y="5053013"/>
              <a:ext cx="357188" cy="820738"/>
            </a:xfrm>
            <a:custGeom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>
            </p:cNvSpPr>
            <p:nvPr/>
          </p:nvSpPr>
          <p:spPr bwMode="auto">
            <a:xfrm>
              <a:off x="7037388" y="3811588"/>
              <a:ext cx="457200" cy="1852613"/>
            </a:xfrm>
            <a:custGeom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>
            </p:cNvSpPr>
            <p:nvPr/>
          </p:nvSpPr>
          <p:spPr bwMode="auto">
            <a:xfrm>
              <a:off x="6992938" y="1263650"/>
              <a:ext cx="144463" cy="2508250"/>
            </a:xfrm>
            <a:custGeom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>
            </p:cNvSpPr>
            <p:nvPr/>
          </p:nvSpPr>
          <p:spPr bwMode="auto">
            <a:xfrm>
              <a:off x="7526338" y="5640388"/>
              <a:ext cx="111125" cy="233363"/>
            </a:xfrm>
            <a:custGeom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>
            </p:cNvSpPr>
            <p:nvPr/>
          </p:nvSpPr>
          <p:spPr bwMode="auto">
            <a:xfrm>
              <a:off x="7021513" y="3598863"/>
              <a:ext cx="68263" cy="423863"/>
            </a:xfrm>
            <a:custGeom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>
            </p:cNvSpPr>
            <p:nvPr/>
          </p:nvSpPr>
          <p:spPr bwMode="auto">
            <a:xfrm>
              <a:off x="7412038" y="2801938"/>
              <a:ext cx="1168400" cy="2251075"/>
            </a:xfrm>
            <a:custGeom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>
            </p:cNvSpPr>
            <p:nvPr/>
          </p:nvSpPr>
          <p:spPr bwMode="auto">
            <a:xfrm>
              <a:off x="7494588" y="5664200"/>
              <a:ext cx="100013" cy="209550"/>
            </a:xfrm>
            <a:custGeom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>
            </p:cNvSpPr>
            <p:nvPr/>
          </p:nvSpPr>
          <p:spPr bwMode="auto">
            <a:xfrm>
              <a:off x="7412038" y="5081588"/>
              <a:ext cx="114300" cy="558800"/>
            </a:xfrm>
            <a:custGeom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>
            </p:cNvSpPr>
            <p:nvPr/>
          </p:nvSpPr>
          <p:spPr bwMode="auto">
            <a:xfrm>
              <a:off x="7412038" y="4978400"/>
              <a:ext cx="31750" cy="188913"/>
            </a:xfrm>
            <a:custGeom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>
            </p:cNvSpPr>
            <p:nvPr/>
          </p:nvSpPr>
          <p:spPr bwMode="auto">
            <a:xfrm>
              <a:off x="7439026" y="5434013"/>
              <a:ext cx="174625" cy="439738"/>
            </a:xfrm>
            <a:custGeom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1/1/2000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IBM CLLE: CL Language Tools for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From IBM — A full-featured language extension for IBM i Control Language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with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Code for IBM i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(by Halcyon Software)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Supports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.bnd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, and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.cmd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source types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Brings IntelliSense-style features to CL development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Available free on the VS Code Marketplace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What is CL?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CL (Control Language)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is the command language of IBM i (AS/400)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Used for: job control, submitting jobs, working with objects, running programs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Compiled into CL programs (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.CLLE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) or used in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.CMD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objects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 still powers thousands of production IBM i systems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Historically edited on 5250 green-screen or RDi — now VS Code!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What the IBM CLLE Extension Provides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Syntax Highlighting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proper colorization for CL keywords and values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Outline View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file structure at a glance in the Explorer panel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Content Assist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auto-complete for CL commands and parameters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Go to / Peek Definition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navigate to where variables and labels are defined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Find All References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see every usage of a variable or label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Hover Documentation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view IBM command docs without leaving the editor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Syntax Checking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validate CL syntax against the IBM i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Activated File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2907792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The extension activates automatically for these source types: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07992"/>
          <a:ext cx="1124712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 Extension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 Type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.cl or .clle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CL Program source (CLLE)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.bnd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Service Program binder source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.cmd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Command definition source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45352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2E"/>
                </a:solidFill>
                <a:latin typeface="Calibri"/>
              </a:rPr>
              <a:t>All three types share the same language intelligence features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Outline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The VS Code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Outline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panel shows your CL program's structure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Provides a navigable tree of: subroutines, labels, declared variables, files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with the standard VS Code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Breadcrumb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navigation bar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Click any item in the outline to jump directly to that line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Great for large CL programs with many subroutines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Content Assist: Command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Press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Ctrl+Space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trigger auto-complete anywhere in a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file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Suggests valid CL command names as you type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Parameter completion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after typing a command name, suggests its supported keywords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Keyword descriptions come from IBM i command definitions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Requires a live connection via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Code for IBM i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for full IBM i command catalog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Go To Definition &amp; Find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Go to Definition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(F12 or Ctrl+Click):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Jump to where a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DCL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variable,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DCLF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file, or subroutine label is declared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Works across the current source file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Find All References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(Shift+F12):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Locate every place a variable, label, or file name is used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Results appear in the VS Code References panel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Peek Definition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(Alt+F12):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View the declaration inline without leaving your current position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Hover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Hover your cursor over 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CL command name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see its documentation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Hover over 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parameter keyword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see its valid values and description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Documentation is fetched live from the IBM i system via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Code for IBM 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The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vscode-clle.general.displayCommandDocumentation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setting must be enabled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Requires an active IBM i connection — shows nothing if offline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Syntax Checking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Run the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"Check CL Syntax"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command: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Validates the current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.cl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source against the connected IBM i system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Errors appear in the VS Code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Problems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panel with line and column numbers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Accessible from the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Command Palette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: </a:t>
            </a:r>
            <a:r>
              <a:rPr sz="1300" b="0" i="0">
                <a:solidFill>
                  <a:srgbClr val="B5204F"/>
                </a:solidFill>
                <a:latin typeface="Courier New"/>
              </a:rPr>
              <a:t>CL: Check CL Syntax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Also available via the editor toolbar (title bar icon)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Requires an active Code for IBM i connection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Run Selected CL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Select one or more CL statements in the editor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Run command: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"Run selected CL command"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Submits the selected command(s) to the connected IBM i for execution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Output appears in the VS Code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Output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or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Terminal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panel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Useful for quick ad-hoc testing without creating a full program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Code Snippets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128016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Type a keyword and press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Tab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to expand a full CL snippet: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8036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Trigger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inserts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PGM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Full program start/end boilerplate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DCL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Declare CL variable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DCLF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Declare file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MONMSG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Monitor message handler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SELECT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SELECT / WHEN / OTHERWISE block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SUBR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Subroutine start and end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SBMJOB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Submit Job skeleton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CHGVAR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Change Variable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Integration with Code for IBM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IBM CLLE is designed to work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alongside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Code for IBM 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Code for IBM i provides the IBM i </a:t>
            </a:r>
            <a:r>
              <a:rPr sz="1500" b="1" i="0">
                <a:solidFill>
                  <a:srgbClr val="1F497D"/>
                </a:solidFill>
                <a:latin typeface="Calibri"/>
              </a:rPr>
              <a:t>connection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and object browser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CLLE extension uses that connection for: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Live command documentation on hover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Syntax checking against the real system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Running selected commands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Without a connection, syntax highlighting, outline, and snippets still 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One key setting: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`vscode-clle.general.displayCommandDocumentation`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Default: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enabled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When on, hover tooltips fetch live IBM i CL command docs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Disable if you want to suppress hover documentation fetching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Configured in VS Code Settings (Ctrl+,) under "CL" or "CLLE"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8760"/>
            <a:ext cx="11247120" cy="5029200"/>
          </a:xfrm>
        </p:spPr>
        <p:txBody>
          <a:bodyPr wrap="square" lIns="109728" rIns="109728" tIns="91440" bIns="91440"/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IBM CLLE transforms VS Code into a first-class CL IDE: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Outline View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navigate your CL program structure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IntelliSense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command and parameter completion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Go to Definition / Find References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code navigation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Hover docs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IBM command documentation inline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Syntax check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catch errors before compile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Run selection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test CL commands interactively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1" i="0">
                <a:solidFill>
                  <a:srgbClr val="1F497D"/>
                </a:solidFill>
                <a:latin typeface="Calibri"/>
              </a:rPr>
              <a:t>Snippets</a:t>
            </a:r>
            <a:r>
              <a:rPr sz="1500" b="0" i="0">
                <a:solidFill>
                  <a:srgbClr val="1A1A2E"/>
                </a:solidFill>
                <a:latin typeface="Calibri"/>
              </a:rPr>
              <a:t> — common CL boilerplate at your fingertips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1A1A2E"/>
                </a:solidFill>
                <a:latin typeface="Calibri"/>
              </a:rPr>
              <a:t>Free, open source, from IBM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CLLE_PRESENTATION</dc:title>
  <dc:creator>CozziResearch</dc:creator>
  <dcterms:created xsi:type="dcterms:W3CDTF">2026-04-08T15:27:09Z</dcterms:created>
  <dcterms:modified xsi:type="dcterms:W3CDTF">2026-04-08T15:27:09Z</dcterms:modified>
</cp:coreProperties>
</file>